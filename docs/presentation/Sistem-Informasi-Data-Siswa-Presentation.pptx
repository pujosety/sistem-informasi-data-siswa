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3" Type="http://schemas.openxmlformats.org/officeDocument/2006/relationships/image" Target="../media/image24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Relationship Id="rId3" Type="http://schemas.openxmlformats.org/officeDocument/2006/relationships/image" Target="../media/image26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27.png"/><Relationship Id="rId4" Type="http://schemas.openxmlformats.org/officeDocument/2006/relationships/image" Target="../media/image28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1828800"/>
            <a:ext cx="8686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891B2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286000"/>
            <a:ext cx="969264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defRPr sz="4600" b="1">
                <a:solidFill>
                  <a:srgbClr val="FFFFFF"/>
                </a:solidFill>
                <a:latin typeface="Manrope"/>
              </a:defRPr>
            </a:pPr>
            <a:r>
              <a:t>Administrasi Sekolah</a:t>
            </a:r>
          </a:p>
          <a:p>
            <a:pPr algn="l">
              <a:lnSpc>
                <a:spcPct val="105000"/>
              </a:lnSpc>
              <a:defRPr sz="4600" b="1">
                <a:solidFill>
                  <a:srgbClr val="FFFFFF"/>
                </a:solidFill>
                <a:latin typeface="Manrope"/>
              </a:defRPr>
            </a:pPr>
            <a:r>
              <a:t>dalam Satu Platform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4023360"/>
            <a:ext cx="84124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  <a:defRPr sz="1500" b="0">
                <a:solidFill>
                  <a:srgbClr val="94A3B8"/>
                </a:solidFill>
                <a:latin typeface="Inter"/>
              </a:defRPr>
            </a:pPr>
            <a:r>
              <a:t>PPDB · Verifikasi · Kelas &amp; Enrollment · Absensi · Nilai · Portal Orang Tua</a:t>
            </a:r>
          </a:p>
          <a:p>
            <a:pPr algn="l">
              <a:lnSpc>
                <a:spcPct val="140000"/>
              </a:lnSpc>
              <a:defRPr sz="1500" b="0">
                <a:solidFill>
                  <a:srgbClr val="94A3B8"/>
                </a:solidFill>
                <a:latin typeface="Inter"/>
              </a:defRPr>
            </a:pPr>
            <a:r>
              <a:t>Laravel 12 · MySQL 8.4 · PWA · Wasmer</a:t>
            </a:r>
          </a:p>
        </p:txBody>
      </p:sp>
      <p:pic>
        <p:nvPicPr>
          <p:cNvPr id="6" name="Picture 5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8160" y="1554480"/>
            <a:ext cx="3291840" cy="2057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05840" y="603504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000" b="0">
                <a:solidFill>
                  <a:srgbClr val="64748B"/>
                </a:solidFill>
                <a:latin typeface="Inter"/>
              </a:defRPr>
            </a:pPr>
            <a:r>
              <a:t>github.com/pujosety/Sistem-Informasi-Data-Siswa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LATAR BELAKANG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Data siswa tersebar di banyak tempat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Sekolah umumnya menyimpan data di beberapa lokasi sekaligus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606040" cy="17373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0312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Buku pendaftaran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603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Catatan kertas di ruang kesiswaan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828800"/>
            <a:ext cx="2606040" cy="17373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11880" y="210312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Basis data lama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11880" y="25603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Dokumen lama yang tidak terenkripsi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80" y="1828800"/>
            <a:ext cx="2606040" cy="17373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210312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Folder berkas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5603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Scan identitas dan ijazah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69680" y="1828800"/>
            <a:ext cx="2606040" cy="17373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98280" y="210312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Spreadsheet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2560320"/>
            <a:ext cx="2148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Disusun ulang setiap tahun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31920"/>
            <a:ext cx="10881360" cy="118872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4160520"/>
            <a:ext cx="103327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Akibatnya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498848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400" b="0">
                <a:solidFill>
                  <a:srgbClr val="0F172A"/>
                </a:solidFill>
                <a:latin typeface="Inter"/>
              </a:defRPr>
            </a:pPr>
            <a:r>
              <a:t>Sulit menjawab siapa yang sudah terverifikasi, kelas mana yang belum lengkap,</a:t>
            </a:r>
          </a:p>
          <a:p>
            <a:pPr algn="l">
              <a:lnSpc>
                <a:spcPct val="130000"/>
              </a:lnSpc>
              <a:defRPr sz="1400" b="0">
                <a:solidFill>
                  <a:srgbClr val="0F172A"/>
                </a:solidFill>
                <a:latin typeface="Inter"/>
              </a:defRPr>
            </a:pPr>
            <a:r>
              <a:t>dan bagaimana seorang siswa berkembang dari kelas X sampai lulus.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MASALAH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Tujuh hambatan yang berulang setiap tahun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1D4ED8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3716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Data terfragmentasi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16276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Sulit's mencari satu sumber kebenaran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08483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1D4ED8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0848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Antrean tak terukur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" y="234086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Verifikasi ditangani sebagai daftar, bukan antrean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980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1D4ED8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27980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Ketergantungan spreadsheet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05409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Kerusakan data sulit dilacak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511296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1D4ED8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1560" y="351129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Alur dokumen buram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" y="37673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Siswa tidak tahu berkas mana yang kurang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1371600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1D4ED8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37160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Akses sulit dibatasi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1627632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Otorisasi berbasis nama peran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72200" y="2084832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1D4ED8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084832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Riwayat hilang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340864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Naik kelas menimpa, bukan menambah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72200" y="2798064"/>
            <a:ext cx="365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1D4ED8"/>
                </a:solidFill>
                <a:latin typeface="Inter"/>
              </a:defRPr>
            </a:pPr>
            <a: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798064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Komunikasi terbatas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3054096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Informasi hanya disampaikan lisan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TUJUAN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Lima tujuan yang membentuk arah proyek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2057400" cy="109728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783080"/>
            <a:ext cx="1655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F172A"/>
                </a:solidFill>
                <a:latin typeface="Manrope"/>
              </a:defRPr>
            </a:pPr>
            <a:r>
              <a:t>Memusatkan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286000"/>
            <a:ext cx="1655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Satu skema yang mempertahankan riwayat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37160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2834640" y="1371600"/>
            <a:ext cx="2057400" cy="109728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035808" y="1783080"/>
            <a:ext cx="1655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F172A"/>
                </a:solidFill>
                <a:latin typeface="Manrope"/>
              </a:defRPr>
            </a:pPr>
            <a:r>
              <a:t>Menyederhanakan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35808" y="2286000"/>
            <a:ext cx="1655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Prosedur manual menjadi alur terukur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029200" y="1371600"/>
            <a:ext cx="2057400" cy="109728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30368" y="1783080"/>
            <a:ext cx="1655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F172A"/>
                </a:solidFill>
                <a:latin typeface="Manrope"/>
              </a:defRPr>
            </a:pPr>
            <a:r>
              <a:t>Melindungi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30368" y="2286000"/>
            <a:ext cx="1655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Otorisasi server-side, bukan sekadar menu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137160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223760" y="1371600"/>
            <a:ext cx="2057400" cy="109728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24928" y="1783080"/>
            <a:ext cx="1655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F172A"/>
                </a:solidFill>
                <a:latin typeface="Manrope"/>
              </a:defRPr>
            </a:pPr>
            <a:r>
              <a:t>Melacak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24928" y="2286000"/>
            <a:ext cx="1655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Setiap keputusan tercatat dan dapat diaudit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18320" y="1371600"/>
            <a:ext cx="2057400" cy="20116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9418320" y="1371600"/>
            <a:ext cx="2057400" cy="109728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19488" y="1783080"/>
            <a:ext cx="1655064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600" b="1">
                <a:solidFill>
                  <a:srgbClr val="0F172A"/>
                </a:solidFill>
                <a:latin typeface="Manrope"/>
              </a:defRPr>
            </a:pPr>
            <a:r>
              <a:t>Mengotomasi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19488" y="2286000"/>
            <a:ext cx="1655064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Hitungan dan laporan tanpa kerja ulang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40480"/>
            <a:ext cx="10881360" cy="1005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096512"/>
            <a:ext cx="103327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500" b="0">
                <a:solidFill>
                  <a:srgbClr val="0F172A"/>
                </a:solidFill>
                <a:latin typeface="Inter"/>
              </a:defRPr>
            </a:pPr>
            <a:r>
              <a:t>Prinsip yang dipegang: menyembunyikan tombol bukan keamanan,</a:t>
            </a:r>
          </a:p>
          <a:p>
            <a:pPr algn="l">
              <a:lnSpc>
                <a:spcPct val="130000"/>
              </a:lnSpc>
              <a:defRPr sz="1500" b="0">
                <a:solidFill>
                  <a:srgbClr val="0F172A"/>
                </a:solidFill>
                <a:latin typeface="Inter"/>
              </a:defRPr>
            </a:pPr>
            <a:r>
              <a:t>dan mengubah angka pada URL tidak membuka apa pun.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SOLUSI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Satu alur, dari pendaftaran sampai kelulusan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Setiap tahap punya status yang jelas bagi semua pihak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1463040" cy="640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2029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Akun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03120" y="1993392"/>
            <a:ext cx="1097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800" b="0">
                <a:solidFill>
                  <a:srgbClr val="8A94A6"/>
                </a:solidFill>
                <a:latin typeface="Inter"/>
              </a:defRPr>
            </a:pPr>
            <a:r>
              <a:t>›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12848" y="1828800"/>
            <a:ext cx="1463040" cy="640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12848" y="2029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Pribadi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75888" y="1993392"/>
            <a:ext cx="1097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800" b="0">
                <a:solidFill>
                  <a:srgbClr val="8A94A6"/>
                </a:solidFill>
                <a:latin typeface="Inter"/>
              </a:defRPr>
            </a:pPr>
            <a: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85616" y="1828800"/>
            <a:ext cx="1463040" cy="640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85616" y="2029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Orang Tua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48656" y="1993392"/>
            <a:ext cx="1097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800" b="0">
                <a:solidFill>
                  <a:srgbClr val="8A94A6"/>
                </a:solidFill>
                <a:latin typeface="Inter"/>
              </a:defRPr>
            </a:pPr>
            <a: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358384" y="1828800"/>
            <a:ext cx="1463040" cy="640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58384" y="2029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Pendidikan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21424" y="1993392"/>
            <a:ext cx="1097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800" b="0">
                <a:solidFill>
                  <a:srgbClr val="8A94A6"/>
                </a:solidFill>
                <a:latin typeface="Inter"/>
              </a:defRPr>
            </a:pPr>
            <a:r>
              <a:t>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31152" y="1828800"/>
            <a:ext cx="1463040" cy="640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31152" y="2029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Dokumen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94192" y="1993392"/>
            <a:ext cx="1097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800" b="0">
                <a:solidFill>
                  <a:srgbClr val="8A94A6"/>
                </a:solidFill>
                <a:latin typeface="Inter"/>
              </a:defRPr>
            </a:pPr>
            <a:r>
              <a:t>›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03920" y="1828800"/>
            <a:ext cx="1463040" cy="640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03920" y="2029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Review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93392"/>
            <a:ext cx="10972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800" b="0">
                <a:solidFill>
                  <a:srgbClr val="8A94A6"/>
                </a:solidFill>
                <a:latin typeface="Inter"/>
              </a:defRPr>
            </a:pPr>
            <a:r>
              <a:t>›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076688" y="1828800"/>
            <a:ext cx="1463040" cy="64008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76688" y="2029968"/>
            <a:ext cx="1463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Submit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2834640"/>
            <a:ext cx="5120640" cy="210312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1">
                <a:solidFill>
                  <a:srgbClr val="FFFFFF"/>
                </a:solidFill>
                <a:latin typeface="Inter"/>
              </a:defRPr>
            </a:pPr>
            <a:r>
              <a:t>Disetujui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361188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300" b="0">
                <a:solidFill>
                  <a:srgbClr val="FFFFFF"/>
                </a:solidFill>
                <a:latin typeface="Inter"/>
              </a:defRPr>
            </a:pPr>
            <a:r>
              <a:t>Pendaftaran selesai.</a:t>
            </a:r>
          </a:p>
          <a:p>
            <a:pPr algn="l">
              <a:lnSpc>
                <a:spcPct val="135000"/>
              </a:lnSpc>
              <a:defRPr sz="1300" b="0">
                <a:solidFill>
                  <a:srgbClr val="FFFFFF"/>
                </a:solidFill>
                <a:latin typeface="Inter"/>
              </a:defRPr>
            </a:pPr>
            <a:r>
              <a:t>Siswa dapat ditempatkan ke kelas.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0" y="2834640"/>
            <a:ext cx="5120640" cy="210312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5120" y="310896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1">
                <a:solidFill>
                  <a:srgbClr val="FFFFFF"/>
                </a:solidFill>
                <a:latin typeface="Inter"/>
              </a:defRPr>
            </a:pPr>
            <a:r>
              <a:t>Perlu perbaikan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3611880"/>
            <a:ext cx="4572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300" b="0">
                <a:solidFill>
                  <a:srgbClr val="FFFFFF"/>
                </a:solidFill>
                <a:latin typeface="Inter"/>
              </a:defRPr>
            </a:pPr>
            <a:r>
              <a:t>Alasan wajib diisi.</a:t>
            </a:r>
          </a:p>
          <a:p>
            <a:pPr algn="l">
              <a:lnSpc>
                <a:spcPct val="135000"/>
              </a:lnSpc>
              <a:defRPr sz="1300" b="0">
                <a:solidFill>
                  <a:srgbClr val="FFFFFF"/>
                </a:solidFill>
                <a:latin typeface="Inter"/>
              </a:defRPr>
            </a:pPr>
            <a:r>
              <a:t>Siswa memperbaiki, lalu diverifikasi ulang.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PENGGUNA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Delapan tingkat, delapan pekerjaan berbeda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2606040" cy="91440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41248" y="1645920"/>
            <a:ext cx="2203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Super 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2029968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Kendali sistem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83280" y="137160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383280" y="1371600"/>
            <a:ext cx="2606040" cy="91440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84448" y="1645920"/>
            <a:ext cx="2203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Admin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84448" y="2029968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Administrasi harian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37160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606040" cy="91440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27648" y="1645920"/>
            <a:ext cx="2203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Kesiswaan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27648" y="2029968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Siklus hidup siswa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69680" y="137160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869680" y="1371600"/>
            <a:ext cx="2606040" cy="91440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70848" y="1645920"/>
            <a:ext cx="2203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Operator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70848" y="2029968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Entri data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10896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40080" y="3108960"/>
            <a:ext cx="2606040" cy="91440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41248" y="3383280"/>
            <a:ext cx="2203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Verifikator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" y="3767328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Antrean verifikasi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383280" y="310896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3383280" y="3108960"/>
            <a:ext cx="2606040" cy="91440"/>
          </a:xfrm>
          <a:prstGeom prst="roundRect">
            <a:avLst>
              <a:gd name="adj" fmla="val 4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84448" y="3383280"/>
            <a:ext cx="2203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Wali Kelas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3767328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Kelas yang ditugaskan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26480" y="310896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126480" y="3108960"/>
            <a:ext cx="2606040" cy="91440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27648" y="3383280"/>
            <a:ext cx="2203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Siswa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27648" y="3767328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Layanan mandiri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869680" y="3108960"/>
            <a:ext cx="2606040" cy="15087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8869680" y="3108960"/>
            <a:ext cx="2606040" cy="91440"/>
          </a:xfrm>
          <a:prstGeom prst="roundRect">
            <a:avLst>
              <a:gd name="adj" fmla="val 4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70848" y="3383280"/>
            <a:ext cx="2203704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Orang Tua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070848" y="3767328"/>
            <a:ext cx="22037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Memantau anak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Biru = berasal dari role.   Tosca = berasal dari penugasan atau relasi, bukan role.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ARSITEKTUR TINGKAT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Role, izin, penugasan, dan cakupan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Empat konsep yang sengaja dipisahkan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2377440" cy="59436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ROLE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2024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Kesiswaan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217627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Siapa orangnya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606040"/>
            <a:ext cx="2377440" cy="59436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78892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PERMISSION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269748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classroom.student.view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295351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Apa yang boleh dilakukan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83280"/>
            <a:ext cx="2377440" cy="59436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6616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ASSIGNMENT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347472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Wali kelas X RPL 1 · 2026/2027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91840" y="373075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Apa yang ditanggung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160520"/>
            <a:ext cx="2377440" cy="59436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4343400"/>
            <a:ext cx="2103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RESOURCE SCOPE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4251960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Hanya siswa di X RPL 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91840" y="4507992"/>
            <a:ext cx="3840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Data mana yang boleh dilihat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5120640"/>
            <a:ext cx="10881360" cy="868680"/>
          </a:xfrm>
          <a:prstGeom prst="roundRect">
            <a:avLst>
              <a:gd name="adj" fmla="val 4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34924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FFFFFF"/>
                </a:solidFill>
                <a:latin typeface="Inter"/>
              </a:defRPr>
            </a:pPr>
            <a:r>
              <a:t>Izin + Cakupan + Penugasan  →  Diizinkan atau Ditolak</a:t>
            </a:r>
          </a:p>
          <a:p>
            <a:pPr algn="l">
              <a:lnSpc>
                <a:spcPct val="130000"/>
              </a:lnSpc>
              <a:defRPr sz="1300" b="0">
                <a:solidFill>
                  <a:srgbClr val="FFFFFF"/>
                </a:solidFill>
                <a:latin typeface="Inter"/>
              </a:defRPr>
            </a:pPr>
            <a:r>
              <a:t>Memegang izin tanpa penugasan tidak membuka apa pun.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TEKNOLOGI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Tumpukan yang dipilih dan alasannya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9961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Laravel 12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80136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PHP 8.4 · monolit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37160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44568" y="149961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Blade + Alpine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44568" y="180136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Tanpa SPA terpisah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46720" y="137160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47888" y="149961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Tailwind CSS 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47888" y="180136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Token semantik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33172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245973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Vite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1248" y="276148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Build aset + PWA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33172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44568" y="245973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MySQL 8.4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44568" y="276148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95 tabel · InnoDB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46720" y="233172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47888" y="245973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Spatie Permission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47888" y="276148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85 izin · 7 peran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29184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341985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Laravel Excel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372160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Ekspor laporan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343400" y="329184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44568" y="341985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DomPDF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44568" y="372160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Laporan PDF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29184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47888" y="341985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Docker Compose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47888" y="372160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Pengembangan lokal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40080" y="425196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41248" y="437997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GitHub Actions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" y="468172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Test + build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251960"/>
            <a:ext cx="3429000" cy="7772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544568" y="4379976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1">
                <a:solidFill>
                  <a:srgbClr val="0F172A"/>
                </a:solidFill>
                <a:latin typeface="Inter"/>
              </a:defRPr>
            </a:pPr>
            <a:r>
              <a:t>Wasmer Edge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44568" y="4681728"/>
            <a:ext cx="3026664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Produksi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ARSITEKTUR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Jalur permintaan sebenarnya</a:t>
            </a:r>
          </a:p>
        </p:txBody>
      </p:sp>
      <p:pic>
        <p:nvPicPr>
          <p:cNvPr id="4" name="Picture 3" descr="system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3040" y="1371600"/>
            <a:ext cx="2875455" cy="44805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Controller tidak membuat keputusan izin — itu milik Policy atau Service.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AUTENTIKASI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Masuk dan langsung sampai ke ruang kerja yang tepat</a:t>
            </a:r>
          </a:p>
        </p:txBody>
      </p:sp>
      <p:pic>
        <p:nvPicPr>
          <p:cNvPr id="4" name="Picture 3" descr="01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0" y="1371600"/>
            <a:ext cx="5486400" cy="34290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035040" y="1371600"/>
            <a:ext cx="5486400" cy="342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35040" y="4562856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Halaman masuk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02920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Masuk dengan email dan kata sandi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Session dirotasi setelah berhasil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Akun nonaktif ditolak meski izinnya masih ada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Rate limit 6 percobaan per menit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Pengguna dengan banyak ruang kerja dapat berpindah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297680"/>
            <a:ext cx="5029200" cy="749808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62272"/>
            <a:ext cx="4572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Catatan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8646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4864608"/>
            <a:ext cx="42519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0F172A"/>
                </a:solidFill>
                <a:latin typeface="Inter"/>
              </a:defRPr>
            </a:pPr>
            <a:r>
              <a:t>Tidak ada akun ganda untuk wali kelas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WORKSPACE · SUPER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Kendali sistem</a:t>
            </a:r>
          </a:p>
        </p:txBody>
      </p:sp>
      <p:pic>
        <p:nvPicPr>
          <p:cNvPr id="4" name="Picture 3" descr="02-super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52160" y="13716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6771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Super Admin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Super Admin — Kendali sistem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Konfigurasi, pengguna, role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Konfigurasi akademik dan master data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Ringkasan operasional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Aktivitas terakhir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WORKSPACE ·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Administrasi harian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Admin — Administrasi harian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Antrean yang perlu tindakan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Metrik siswa terverifikasi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Antrean pendaftaran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Data yang belum lengkap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WORKSPACE · KESISWAAN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Siklus hidup siswa</a:t>
            </a:r>
          </a:p>
        </p:txBody>
      </p:sp>
      <p:pic>
        <p:nvPicPr>
          <p:cNvPr id="4" name="Picture 3" descr="06-kesiswaa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52160" y="13716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6771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Kesiswaan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Kesiswaan — Siklus hidup siswa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Siswa aktif dan jumlah kelas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Siswa yang belum ditempatkan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Sebaran per tingkat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Sebaran per jurusan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WORKSPACE · OPERATOR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Entri data</a:t>
            </a:r>
          </a:p>
        </p:txBody>
      </p:sp>
      <p:pic>
        <p:nvPicPr>
          <p:cNvPr id="4" name="Picture 3" descr="09-operator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52160" y="13716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6771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Operator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Operator — Entri data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Draft yang menunggu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Data yang belum lengkap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Siswa belum ditempatkan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Daftar draft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WORKSPACE · VERIFIKATOR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Antrean verifikasi</a:t>
            </a:r>
          </a:p>
        </p:txBody>
      </p:sp>
      <p:pic>
        <p:nvPicPr>
          <p:cNvPr id="4" name="Picture 3" descr="11-verification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52160" y="13716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6771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Verifikator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Verifikator — Antrean verifikasi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Antrean dengan prioritas terlama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Perlu perbaikan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Selesai hari ini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Tanpa analitik — fokus bereskan antrean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WORKSPACE · SISWA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Layanan mandiri</a:t>
            </a:r>
          </a:p>
        </p:txBody>
      </p:sp>
      <p:pic>
        <p:nvPicPr>
          <p:cNvPr id="4" name="Picture 3" descr="16-stud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52160" y="13716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6771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Siswa — Layanan mandiri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Status pendaftaran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Progres kelengkapan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Langkah selanjutnya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Dokumen yang perlu diunggah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WORKSPACE · ORANG TUA / WALI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Memantau anak</a:t>
            </a:r>
          </a:p>
        </p:txBody>
      </p:sp>
      <p:pic>
        <p:nvPicPr>
          <p:cNvPr id="4" name="Picture 3" descr="20-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52160" y="13716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6771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Orang Tua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Orang Tua / Wali — Memantau anak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Satu kartu per anak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Kelas dan kehadiran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Kelengkapan data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Nilai yang sudah terbit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PPDB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Antrean verifikasi dengan jejak keputusan</a:t>
            </a:r>
          </a:p>
        </p:txBody>
      </p:sp>
      <p:pic>
        <p:nvPicPr>
          <p:cNvPr id="4" name="Picture 3" descr="03-ppdb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52160" y="13716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6771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Antrean pendaftaran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Verifikator bekerja dari antrean, bukan daftar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Pendaftaran terlama berada di atas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Setiap penolakan wajib disertai alasan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Siswa menerima notifikasi hasilnya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114800"/>
            <a:ext cx="4937760" cy="9144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315968"/>
            <a:ext cx="4389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1D4ED8"/>
                </a:solidFill>
                <a:latin typeface="Inter"/>
              </a:defRPr>
            </a:pPr>
            <a:r>
              <a:t>Setelah satu item diproses, antrean langsung</a:t>
            </a:r>
          </a:p>
          <a:p>
            <a:pPr algn="l">
              <a:lnSpc>
                <a:spcPct val="130000"/>
              </a:lnSpc>
              <a:defRPr sz="1300" b="0">
                <a:solidFill>
                  <a:srgbClr val="1D4ED8"/>
                </a:solidFill>
                <a:latin typeface="Inter"/>
              </a:defRPr>
            </a:pPr>
            <a:r>
              <a:t>menampilkan item berikutnya.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WIZARD PENDAFTARAN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Enam tahap, satu per satu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Form panjang dipecah agar tidak melelahkan</a:t>
            </a:r>
          </a:p>
        </p:txBody>
      </p:sp>
      <p:pic>
        <p:nvPicPr>
          <p:cNvPr id="5" name="Picture 4" descr="17-registration-wiz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828800"/>
            <a:ext cx="5669280" cy="354330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852160" y="18288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852160" y="51343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Wizard bertahap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011680"/>
            <a:ext cx="4937760" cy="4572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396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213055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Akun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78608"/>
            <a:ext cx="4937760" cy="4572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70662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69748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Pribadi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145536"/>
            <a:ext cx="4937760" cy="4572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68680" y="327355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64408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Orang Tua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12464"/>
            <a:ext cx="4937760" cy="4572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840480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3831336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Pendidikan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4279392"/>
            <a:ext cx="4937760" cy="4572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440740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34440" y="4398264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Dokumen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4846320"/>
            <a:ext cx="4937760" cy="45720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97433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34440" y="4965192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Review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48640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Kelengkapan dihitung otomatis; submit ditolak</a:t>
            </a:r>
          </a:p>
          <a:p>
            <a:pPr algn="l">
              <a:lnSpc>
                <a:spcPct val="13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apabila data belum lengkap.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DOKUMEN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Status berkas yang jelas bagi siswa</a:t>
            </a:r>
          </a:p>
        </p:txBody>
      </p:sp>
      <p:pic>
        <p:nvPicPr>
          <p:cNvPr id="4" name="Picture 3" descr="18-docu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1371600"/>
            <a:ext cx="5669280" cy="354330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5852160" y="1371600"/>
            <a:ext cx="5669280" cy="35433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52160" y="4677156"/>
            <a:ext cx="5669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Manajemen dokumen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49377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Jenis MIME dan ukuran divalidasi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Status: belum diunggah, valid, perlu revisi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Berkas tidak pernah masuk version control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Akses unduhan melewati pemeriksaan izin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RUANG VERIFIKASI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Antrean yang bekerja untuk Anda</a:t>
            </a:r>
          </a:p>
        </p:txBody>
      </p:sp>
      <p:pic>
        <p:nvPicPr>
          <p:cNvPr id="4" name="Picture 3" descr="11-verification-que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Antrean verifikasi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66160" cy="1901952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810512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Empat metrik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212848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12848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0F172A"/>
                </a:solidFill>
                <a:latin typeface="Inter"/>
              </a:defRPr>
            </a:pPr>
            <a:r>
              <a:t>Antrean pending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96896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596896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0F172A"/>
                </a:solidFill>
                <a:latin typeface="Inter"/>
              </a:defRPr>
            </a:pPr>
            <a:r>
              <a:t>Perlu perbaikan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80944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2980944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0F172A"/>
                </a:solidFill>
                <a:latin typeface="Inter"/>
              </a:defRPr>
            </a:pPr>
            <a:r>
              <a:t>Selesai hari ini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364992"/>
            <a:ext cx="2743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364992"/>
            <a:ext cx="2788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0F172A"/>
                </a:solidFill>
                <a:latin typeface="Inter"/>
              </a:defRPr>
            </a:pPr>
            <a:r>
              <a:t>Terlama menunggu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4114800"/>
            <a:ext cx="35661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300" b="0">
                <a:solidFill>
                  <a:srgbClr val="475569"/>
                </a:solidFill>
                <a:latin typeface="Inter"/>
              </a:defRPr>
            </a:pPr>
            <a:r>
              <a:t>Dashboard verifikator adalah</a:t>
            </a:r>
          </a:p>
          <a:p>
            <a:pPr algn="l">
              <a:lnSpc>
                <a:spcPct val="135000"/>
              </a:lnSpc>
              <a:defRPr sz="1300" b="0">
                <a:solidFill>
                  <a:srgbClr val="475569"/>
                </a:solidFill>
                <a:latin typeface="Inter"/>
              </a:defRPr>
            </a:pPr>
            <a:r>
              <a:t>antreannya sendiri — bukan</a:t>
            </a:r>
          </a:p>
          <a:p>
            <a:pPr algn="l">
              <a:lnSpc>
                <a:spcPct val="135000"/>
              </a:lnSpc>
              <a:defRPr sz="1300" b="0">
                <a:solidFill>
                  <a:srgbClr val="475569"/>
                </a:solidFill>
                <a:latin typeface="Inter"/>
              </a:defRPr>
            </a:pPr>
            <a:r>
              <a:t>laporan dengan grafik.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DATA SISWA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Cari, lihat, dan perbarui</a:t>
            </a:r>
          </a:p>
        </p:txBody>
      </p:sp>
      <p:pic>
        <p:nvPicPr>
          <p:cNvPr id="4" name="Picture 3" descr="04-student-l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Daftar 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56616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Pencarian dan filter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Detail siswa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Ekspor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Data lengkap per siswa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KELAS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Rombel yang terikat pada tahun ajaran</a:t>
            </a:r>
          </a:p>
        </p:txBody>
      </p:sp>
      <p:pic>
        <p:nvPicPr>
          <p:cNvPr id="4" name="Picture 3" descr="13-class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Ruang kerja kelas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566160" cy="3291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Kode, tingkat, jurusan, kapasitas, ruang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Status: aktif, tidak aktif, diarsipkan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Siswa · absensi · orang tua · pengumuman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Arsipkan tanpa menghapus riwayat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ARSITEKTUR ENROLLMENT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Satu identitas, banyak konteks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Keputusan yang membedakan sistem ini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1828800"/>
            <a:ext cx="274320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2743200" cy="109728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" y="22128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STUDENT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260604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Satu orang</a:t>
            </a:r>
          </a:p>
          <a:p>
            <a:pPr algn="ctr">
              <a:lnSpc>
                <a:spcPct val="13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seumur hidup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11880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2400" b="0">
                <a:solidFill>
                  <a:srgbClr val="8A94A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14800" y="1828800"/>
            <a:ext cx="274320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114800" y="1828800"/>
            <a:ext cx="2743200" cy="109728"/>
          </a:xfrm>
          <a:prstGeom prst="roundRect">
            <a:avLst>
              <a:gd name="adj" fmla="val 4000"/>
            </a:avLst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343400" y="22128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0891B2"/>
                </a:solidFill>
                <a:latin typeface="Inter"/>
              </a:defRPr>
            </a:pPr>
            <a:r>
              <a:t>ENROLLMENT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260604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Satu baris per</a:t>
            </a:r>
          </a:p>
          <a:p>
            <a:pPr algn="ctr">
              <a:lnSpc>
                <a:spcPct val="13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tahun ajaran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03720" y="2377440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2400" b="0">
                <a:solidFill>
                  <a:srgbClr val="8A94A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406640" y="1828800"/>
            <a:ext cx="2743200" cy="1554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057A5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406640" y="1828800"/>
            <a:ext cx="2743200" cy="109728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5240" y="2212848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300" b="1">
                <a:solidFill>
                  <a:srgbClr val="057A55"/>
                </a:solidFill>
                <a:latin typeface="Inter"/>
              </a:defRPr>
            </a:pPr>
            <a:r>
              <a:t>CLASSROOM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35240" y="2606040"/>
            <a:ext cx="22860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Rombel pada</a:t>
            </a:r>
          </a:p>
          <a:p>
            <a:pPr algn="ctr">
              <a:lnSpc>
                <a:spcPct val="13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satu tahun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840480"/>
            <a:ext cx="10881360" cy="105156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041648"/>
            <a:ext cx="103327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defRPr sz="1400" b="0">
                <a:solidFill>
                  <a:srgbClr val="0F172A"/>
                </a:solidFill>
                <a:latin typeface="Inter"/>
              </a:defRPr>
            </a:pPr>
            <a:r>
              <a:t>Naik kelas tidak menimpa apa pun. Enrollment lama ditutup dengan status promoted,</a:t>
            </a:r>
          </a:p>
          <a:p>
            <a:pPr algn="l">
              <a:lnSpc>
                <a:spcPct val="135000"/>
              </a:lnSpc>
              <a:defRPr sz="1400" b="0">
                <a:solidFill>
                  <a:srgbClr val="0F172A"/>
                </a:solidFill>
                <a:latin typeface="Inter"/>
              </a:defRPr>
            </a:pPr>
            <a:r>
              <a:t>kemudian enrollment baru dibuat untuk tahun ajaran berikutnya.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21208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Kolom class_id yang lama dipertahankan sebagai cermin kompatibilitas — bukan sumber kebenaran.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WALI KELAS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Kelas yang ditugaskan, bukan peran tambahan</a:t>
            </a:r>
          </a:p>
        </p:txBody>
      </p:sp>
      <p:pic>
        <p:nvPicPr>
          <p:cNvPr id="4" name="Picture 3" descr="12-kelas-sa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Kelas Saya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35661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Wali kelas adalah penugasan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Satu guru, banyak kelas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Bisa berganti kelas tiap tahun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Riwayat penugasan tersimpan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Akses hanya kelas sendiri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572000"/>
            <a:ext cx="3566160" cy="82296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736592"/>
            <a:ext cx="3108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FFFFFF"/>
                </a:solidFill>
                <a:latin typeface="Inter"/>
              </a:defRPr>
            </a:pPr>
            <a:r>
              <a:t>Kelas milik orang lain → 403,</a:t>
            </a:r>
          </a:p>
          <a:p>
            <a:pPr algn="l">
              <a:lnSpc>
                <a:spcPct val="130000"/>
              </a:lnSpc>
              <a:defRPr sz="1200" b="0">
                <a:solidFill>
                  <a:srgbClr val="FFFFFF"/>
                </a:solidFill>
                <a:latin typeface="Inter"/>
              </a:defRPr>
            </a:pPr>
            <a:r>
              <a:t>walau URL-nya diubah.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ABSENSI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Tugas harian yang dikerjakan dari ponsel</a:t>
            </a:r>
          </a:p>
        </p:txBody>
      </p:sp>
      <p:pic>
        <p:nvPicPr>
          <p:cNvPr id="4" name="Picture 3" descr="14-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486400" cy="3429000"/>
          </a:xfrm>
          <a:prstGeom prst="rect">
            <a:avLst/>
          </a:prstGeom>
        </p:spPr>
      </p:pic>
      <p:pic>
        <p:nvPicPr>
          <p:cNvPr id="5" name="Picture 4" descr="rp-attend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2240" y="1371600"/>
            <a:ext cx="1828800" cy="395771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371600"/>
            <a:ext cx="5486400" cy="3429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4562856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Desktop 1440 × 900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92240" y="1371600"/>
            <a:ext cx="1828800" cy="395771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0" y="5091566"/>
            <a:ext cx="18288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Mobile 390 × 844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95360" y="15544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Catatan penting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95360" y="1965960"/>
            <a:ext cx="2926080" cy="3108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200">
                <a:solidFill>
                  <a:srgbClr val="475569"/>
                </a:solidFill>
                <a:latin typeface="Inter"/>
              </a:defRPr>
            </a:pPr>
            <a:r>
              <a:t>— Tidak ada siswa otomatis hadir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200">
                <a:solidFill>
                  <a:srgbClr val="475569"/>
                </a:solidFill>
                <a:latin typeface="Inter"/>
              </a:defRPr>
            </a:pPr>
            <a:r>
              <a:t>— Koreksi menyimpan status lama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200">
                <a:solidFill>
                  <a:srgbClr val="475569"/>
                </a:solidFill>
                <a:latin typeface="Inter"/>
              </a:defRPr>
            </a:pPr>
            <a:r>
              <a:t>— Sesi dapat dikunci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200">
                <a:solidFill>
                  <a:srgbClr val="475569"/>
                </a:solidFill>
                <a:latin typeface="Inter"/>
              </a:defRPr>
            </a:pPr>
            <a:r>
              <a:t>— Tombol status dua baris di ponsel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ORANG TUA / WALI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Hubungan yang terpisah dari peran internal</a:t>
            </a:r>
          </a:p>
        </p:txBody>
      </p:sp>
      <p:pic>
        <p:nvPicPr>
          <p:cNvPr id="4" name="Picture 3" descr="20-parent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Anak saya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35661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Satu orang tua, beberapa anak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Satu anak, beberapa wali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Anak lain → 404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Nilai draf tidak pernah tampil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572000"/>
            <a:ext cx="3566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Orang tua ditentukan oleh relasi</a:t>
            </a:r>
          </a:p>
          <a:p>
            <a:pPr algn="l">
              <a:lnSpc>
                <a:spcPct val="13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guardian_relationships, bukan role.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AKADEMIK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Nilai yang terikat pada konteks enrollment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1D4ED8"/>
                </a:solidFill>
                <a:latin typeface="Inter"/>
              </a:defRPr>
            </a:pPr>
            <a:r>
              <a:t>Nilai bukan milik siswa secara langsung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920240"/>
            <a:ext cx="4937760" cy="2377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Nilai menempel pada enrollment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Satu nilai per mata pelajaran per semester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Status draft atau published</a:t>
            </a:r>
          </a:p>
          <a:p>
            <a:pPr>
              <a:lnSpc>
                <a:spcPct val="125000"/>
              </a:lnSpc>
              <a:spcAft>
                <a:spcPts val="6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Hanya published yang tampil ke siswa dan orang tua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297680"/>
            <a:ext cx="4937760" cy="91440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4480560"/>
            <a:ext cx="44805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FFFFFF"/>
                </a:solidFill>
                <a:latin typeface="Inter"/>
              </a:defRPr>
            </a:pPr>
            <a:r>
              <a:t>Penyaringan draft dilakukan di query,</a:t>
            </a:r>
          </a:p>
          <a:p>
            <a:pPr algn="l">
              <a:lnSpc>
                <a:spcPct val="130000"/>
              </a:lnSpc>
              <a:defRPr sz="1200" b="0">
                <a:solidFill>
                  <a:srgbClr val="FFFFFF"/>
                </a:solidFill>
                <a:latin typeface="Inter"/>
              </a:defRPr>
            </a:pPr>
            <a:r>
              <a:t>bukan di template — tidak bisa</a:t>
            </a:r>
          </a:p>
          <a:p>
            <a:pPr algn="l">
              <a:lnSpc>
                <a:spcPct val="130000"/>
              </a:lnSpc>
              <a:defRPr sz="1200" b="0">
                <a:solidFill>
                  <a:srgbClr val="FFFFFF"/>
                </a:solidFill>
                <a:latin typeface="Inter"/>
              </a:defRPr>
            </a:pPr>
            <a:r>
              <a:t>terlewat karena salah ketik.</a:t>
            </a:r>
          </a:p>
        </p:txBody>
      </p:sp>
      <p:pic>
        <p:nvPicPr>
          <p:cNvPr id="8" name="Picture 7" descr="08-statist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371600"/>
            <a:ext cx="5577840" cy="348615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943600" y="1371600"/>
            <a:ext cx="5577840" cy="34861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0" y="4620006"/>
            <a:ext cx="55778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Statistik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KENAIKAN KELAS &amp; KELULUSAN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Status tersedia, alur belum utuh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Bagian ini ditandai PARTIAL dan sengaja dijelaskan apa adanya</a:t>
            </a:r>
          </a:p>
        </p:txBody>
      </p:sp>
      <p:pic>
        <p:nvPicPr>
          <p:cNvPr id="5" name="Picture 4" descr="student-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828800"/>
            <a:ext cx="6184148" cy="44805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649224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Status enrollment dan tabel alumni sudah ada; pratinjau kenaikan dan proses massal belum dikirim.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IMPOR EXCEL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Antarmuka tersedia, pemetaan belum lengkap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Status PARTIAL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5212080" cy="3291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57A55"/>
                </a:solidFill>
                <a:latin typeface="Inter"/>
              </a:defRPr>
            </a:pPr>
            <a:r>
              <a:t>Yang sudah 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560320"/>
            <a:ext cx="4663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Unggah berkas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Pratinjau data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Pelaporan hasil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828800"/>
            <a:ext cx="5212080" cy="32918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103120"/>
            <a:ext cx="46634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B45309"/>
                </a:solidFill>
                <a:latin typeface="Inter"/>
              </a:defRPr>
            </a:pPr>
            <a:r>
              <a:t>Yang belum 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560320"/>
            <a:ext cx="4663440" cy="21945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Pemetaan kolom ke enrollment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Validasi konflik enrollment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Pratinjau bentrok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3949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Data tidak pernah ditimpa diam-diam saat impor — itu syarat yang belum terpenuhi.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REPORT BUILDER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Laporan berdasarkan filter</a:t>
            </a:r>
          </a:p>
        </p:txBody>
      </p:sp>
      <p:pic>
        <p:nvPicPr>
          <p:cNvPr id="4" name="Picture 3" descr="05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Buat laporan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Filter tahun ajaran dan kelas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Ekspor Excel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Ekspor CSV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Ekspor PDF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STATISTIK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Angka yang bisa ditindaklanjuti</a:t>
            </a:r>
          </a:p>
        </p:txBody>
      </p:sp>
      <p:pic>
        <p:nvPicPr>
          <p:cNvPr id="4" name="Picture 3" descr="06-kesiswaa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Dashboard kesiswaan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5661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Siswa belum ditempatkan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Data belum lengkap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Sebaran per tingkat</a:t>
            </a:r>
          </a:p>
          <a:p>
            <a:pPr>
              <a:lnSpc>
                <a:spcPct val="125000"/>
              </a:lnSpc>
              <a:spcAft>
                <a:spcPts val="1000"/>
              </a:spcAft>
              <a:defRPr sz="1400">
                <a:solidFill>
                  <a:srgbClr val="475569"/>
                </a:solidFill>
                <a:latin typeface="Inter"/>
              </a:defRPr>
            </a:pPr>
            <a:r>
              <a:t>— Sebaran per jurusan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Tidak ada statistik yang</a:t>
            </a:r>
          </a:p>
          <a:p>
            <a:pPr algn="l">
              <a:lnSpc>
                <a:spcPct val="13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dipalsukan untuk mengisi</a:t>
            </a:r>
          </a:p>
          <a:p>
            <a:pPr algn="l">
              <a:lnSpc>
                <a:spcPct val="13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tampilan.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PENCARIAN &amp; NOTIFIKASI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Menemukan kembali informasi</a:t>
            </a:r>
          </a:p>
        </p:txBody>
      </p:sp>
      <p:pic>
        <p:nvPicPr>
          <p:cNvPr id="4" name="Picture 3" descr="23-activity-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212080" cy="3257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1371600"/>
            <a:ext cx="5212080" cy="3257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391406"/>
            <a:ext cx="5212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Log aktivitas</a:t>
            </a:r>
          </a:p>
        </p:txBody>
      </p:sp>
      <p:pic>
        <p:nvPicPr>
          <p:cNvPr id="7" name="Picture 6" descr="19-registration-stat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212080" cy="32575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212080" cy="3257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391406"/>
            <a:ext cx="5212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Status notifikasi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8813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Pencarian global dan pusat notifikasi berjalan; keduanya masih dalam tahap awal.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MANAJEMEN PENGGUNA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Akun internal dan hak aksesnya</a:t>
            </a:r>
          </a:p>
        </p:txBody>
      </p:sp>
      <p:pic>
        <p:nvPicPr>
          <p:cNvPr id="4" name="Picture 3" descr="21-user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Manajemen pengguna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45920"/>
            <a:ext cx="356616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Buat, ubah, nonaktifkan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Akun nonaktif langsung ditolak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Super Admin terakhir dilindungi</a:t>
            </a:r>
          </a:p>
          <a:p>
            <a:pPr>
              <a:lnSpc>
                <a:spcPct val="125000"/>
              </a:lnSpc>
              <a:spcAft>
                <a:spcPts val="800"/>
              </a:spcAft>
              <a:defRPr sz="1300">
                <a:solidFill>
                  <a:srgbClr val="475569"/>
                </a:solidFill>
                <a:latin typeface="Inter"/>
              </a:defRPr>
            </a:pPr>
            <a:r>
              <a:t>— Hanya Super Admin menetapkan super_admin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ROLE &amp; PERMISSION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85 izin dalam 7 peran</a:t>
            </a:r>
          </a:p>
        </p:txBody>
      </p:sp>
      <p:pic>
        <p:nvPicPr>
          <p:cNvPr id="4" name="Picture 3" descr="22-role-manage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371600"/>
            <a:ext cx="7040880" cy="4400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4480560" y="1371600"/>
            <a:ext cx="7040880" cy="4400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80560" y="5534406"/>
            <a:ext cx="70408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Matriks permission</a:t>
            </a:r>
          </a:p>
        </p:txBody>
      </p:sp>
      <p:pic>
        <p:nvPicPr>
          <p:cNvPr id="7" name="Picture 6" descr="rba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737360"/>
            <a:ext cx="3183419" cy="44805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40080" y="4590288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Izin bukan satu-satunya.</a:t>
            </a:r>
          </a:p>
          <a:p>
            <a:pPr algn="l">
              <a:lnSpc>
                <a:spcPct val="13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Cakupan dan penugasan menentukan</a:t>
            </a:r>
          </a:p>
          <a:p>
            <a:pPr algn="l">
              <a:lnSpc>
                <a:spcPct val="13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juga apa yang boleh dibuka.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KUSTOMISASI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Sekolah dapat menandai sistemnya sendiri</a:t>
            </a:r>
          </a:p>
        </p:txBody>
      </p:sp>
      <p:pic>
        <p:nvPicPr>
          <p:cNvPr id="4" name="Picture 3" descr="24-school-prof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71600"/>
            <a:ext cx="5212080" cy="325755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40080" y="1371600"/>
            <a:ext cx="5212080" cy="3257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4391406"/>
            <a:ext cx="5212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Profil sekolah</a:t>
            </a:r>
          </a:p>
        </p:txBody>
      </p:sp>
      <p:pic>
        <p:nvPicPr>
          <p:cNvPr id="7" name="Picture 6" descr="25-brand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371600"/>
            <a:ext cx="5212080" cy="325755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309360" y="1371600"/>
            <a:ext cx="5212080" cy="3257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309360" y="4391406"/>
            <a:ext cx="52120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Tampilan &amp; branding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53949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Warna, logo, dan favicon dapat diubah; perubahan langsung terlihat di seluruh aplikasi.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DESAIN RESPONSIF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Satu sistem, tiga permukaan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Navigasi berubah sesuai peran dan ukuran layar</a:t>
            </a:r>
          </a:p>
        </p:txBody>
      </p:sp>
      <p:pic>
        <p:nvPicPr>
          <p:cNvPr id="5" name="Picture 4" descr="02-super-admin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828800"/>
            <a:ext cx="3383280" cy="211455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40080" y="1828800"/>
            <a:ext cx="3383280" cy="211455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3705606"/>
            <a:ext cx="338328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Desktop · 1440 × 900</a:t>
            </a:r>
          </a:p>
        </p:txBody>
      </p:sp>
      <p:pic>
        <p:nvPicPr>
          <p:cNvPr id="8" name="Picture 7" descr="tb-kesiswaan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1828800"/>
            <a:ext cx="2286000" cy="30480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343400" y="1828800"/>
            <a:ext cx="2286000" cy="3048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43400" y="4639056"/>
            <a:ext cx="22860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Tablet · 768 × 1024</a:t>
            </a:r>
          </a:p>
        </p:txBody>
      </p:sp>
      <p:pic>
        <p:nvPicPr>
          <p:cNvPr id="11" name="Picture 10" descr="rp-student-dashbo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9440" y="1828800"/>
            <a:ext cx="1234440" cy="2671454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49440" y="1828800"/>
            <a:ext cx="1234440" cy="267145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0" y="4262510"/>
            <a:ext cx="123444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Mobile · 390 × 844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89204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Sidebar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0" y="4892040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≥ 1024px, dapat diciutkan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276088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Drawer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00400" y="5276088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768–1023px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660136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Bottom navigation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5660136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&lt; 768px, maksimal 5 slot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6044184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1D4ED8"/>
                </a:solidFill>
                <a:latin typeface="Inter"/>
              </a:defRPr>
            </a:pPr>
            <a:r>
              <a:t>Tabel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6044184"/>
            <a:ext cx="8046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Berubah menjadi kartu di layar sempit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PWA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Dapat dipasang di ponsel, jujur soal luring</a:t>
            </a:r>
          </a:p>
        </p:txBody>
      </p:sp>
      <p:pic>
        <p:nvPicPr>
          <p:cNvPr id="4" name="Picture 3" descr="rp-kelas-say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79" y="1371600"/>
            <a:ext cx="2070400" cy="44805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7498079" y="1371600"/>
            <a:ext cx="2194560" cy="44805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79" y="5614416"/>
            <a:ext cx="21945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Mobile · Kelas Saya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6400800" cy="2743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75569"/>
                </a:solidFill>
                <a:latin typeface="Inter"/>
              </a:defRPr>
            </a:pPr>
            <a:r>
              <a:t>— Manifest dan service worker dari build Vite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75569"/>
                </a:solidFill>
                <a:latin typeface="Inter"/>
              </a:defRPr>
            </a:pPr>
            <a:r>
              <a:t>— Dapat dipasang ke layar utama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75569"/>
                </a:solidFill>
                <a:latin typeface="Inter"/>
              </a:defRPr>
            </a:pPr>
            <a:r>
              <a:t>— Aset aplikasi dicache untuk akses offline</a:t>
            </a:r>
          </a:p>
          <a:p>
            <a:pPr>
              <a:lnSpc>
                <a:spcPct val="125000"/>
              </a:lnSpc>
              <a:spcAft>
                <a:spcPts val="1200"/>
              </a:spcAft>
              <a:defRPr sz="1500">
                <a:solidFill>
                  <a:srgbClr val="475569"/>
                </a:solidFill>
                <a:latin typeface="Inter"/>
              </a:defRPr>
            </a:pPr>
            <a:r>
              <a:t>— HTML terautentikasi TIDAK pernah dicache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480560"/>
            <a:ext cx="10881360" cy="91440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663440"/>
            <a:ext cx="103327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defRPr sz="1300" b="0">
                <a:solidFill>
                  <a:srgbClr val="1D4ED8"/>
                </a:solidFill>
                <a:latin typeface="Inter"/>
              </a:defRPr>
            </a:pPr>
            <a:r>
              <a:t>Data siswa tidak boleh tampil sebagai data terkini ketika sedang luring.</a:t>
            </a:r>
          </a:p>
          <a:p>
            <a:pPr algn="l">
              <a:lnSpc>
                <a:spcPct val="130000"/>
              </a:lnSpc>
              <a:defRPr sz="1300" b="0">
                <a:solidFill>
                  <a:srgbClr val="1D4ED8"/>
                </a:solidFill>
                <a:latin typeface="Inter"/>
              </a:defRPr>
            </a:pPr>
            <a:r>
              <a:t>Karena itu service worker hanya menyimpan aset — bukan isi halaman.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KEAMANAN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Yang diuji, bukan yang diklaim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5212080" cy="713232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" y="148132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Otorisasi server-side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175564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Setiap route dijaga middleware izin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371600"/>
            <a:ext cx="5212080" cy="713232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73368" y="148132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Tiga lapis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73368" y="175564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Izin · cakupan · penugasan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240280"/>
            <a:ext cx="5212080" cy="713232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8" y="23500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Cakupan kelas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1248" y="262432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Kelas orang lain menghasilkan 403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2240280"/>
            <a:ext cx="5212080" cy="713232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3368" y="23500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Cakupan orang tua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73368" y="262432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Anak tidak tertaut menghasilkan 404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108960"/>
            <a:ext cx="5212080" cy="713232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8" y="3218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Nilai draf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" y="34930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Disaring di query, tidak pernah tampil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2200" y="3108960"/>
            <a:ext cx="5212080" cy="713232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73368" y="3218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Pesan error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73368" y="349300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Tanpa stack trace di produksi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77640"/>
            <a:ext cx="5212080" cy="713232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0873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Audit log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" y="4361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Keputusan penting tercatat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3977640"/>
            <a:ext cx="5212080" cy="713232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73368" y="408736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0F172A"/>
                </a:solidFill>
                <a:latin typeface="Inter"/>
              </a:defRPr>
            </a:pPr>
            <a:r>
              <a:t>Rahasia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73368" y="4361688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Tidak pernah masuk version control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39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DATABASE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95 tabel, ERD dari skema nyata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Diagram dihasilkan langsung dari information_schema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40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DEPLOYMENT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GitHub → Wasmer → MySQL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500" b="1">
                <a:solidFill>
                  <a:srgbClr val="1D4ED8"/>
                </a:solidFill>
                <a:latin typeface="Inter"/>
              </a:defRPr>
            </a:pPr>
            <a:r>
              <a:t>GitHub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0574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475569"/>
                </a:solidFill>
                <a:latin typeface="Inter"/>
              </a:defRPr>
            </a:pPr>
            <a:r>
              <a:t>main branch</a:t>
            </a:r>
          </a:p>
          <a:p>
            <a:pPr algn="ctr">
              <a:lnSpc>
                <a:spcPct val="130000"/>
              </a:lnSpc>
              <a:defRPr sz="1100" b="0">
                <a:solidFill>
                  <a:srgbClr val="475569"/>
                </a:solidFill>
                <a:latin typeface="Inter"/>
              </a:defRPr>
            </a:pPr>
            <a:r>
              <a:t>CI: test + 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154680" y="182880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2200" b="0">
                <a:solidFill>
                  <a:srgbClr val="8A94A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0" y="13716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474720" y="16459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500" b="1">
                <a:solidFill>
                  <a:srgbClr val="1D4ED8"/>
                </a:solidFill>
                <a:latin typeface="Inter"/>
              </a:defRPr>
            </a:pPr>
            <a:r>
              <a:t>Wasmer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20574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475569"/>
                </a:solidFill>
                <a:latin typeface="Inter"/>
              </a:defRPr>
            </a:pPr>
            <a:r>
              <a:t>Build container</a:t>
            </a:r>
          </a:p>
          <a:p>
            <a:pPr algn="ctr">
              <a:lnSpc>
                <a:spcPct val="130000"/>
              </a:lnSpc>
              <a:defRPr sz="1100" b="0">
                <a:solidFill>
                  <a:srgbClr val="475569"/>
                </a:solidFill>
                <a:latin typeface="Inter"/>
              </a:defRPr>
            </a:pPr>
            <a:r>
              <a:t>Build command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97880" y="182880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2200" b="0">
                <a:solidFill>
                  <a:srgbClr val="8A94A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13716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16459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500" b="1">
                <a:solidFill>
                  <a:srgbClr val="1D4ED8"/>
                </a:solidFill>
                <a:latin typeface="Inter"/>
              </a:defRPr>
            </a:pPr>
            <a:r>
              <a:t>Laravel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0574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475569"/>
                </a:solidFill>
                <a:latin typeface="Inter"/>
              </a:defRPr>
            </a:pPr>
            <a:r>
              <a:t>config:clear → migrate</a:t>
            </a:r>
          </a:p>
          <a:p>
            <a:pPr algn="ctr">
              <a:lnSpc>
                <a:spcPct val="130000"/>
              </a:lnSpc>
              <a:defRPr sz="1100" b="0">
                <a:solidFill>
                  <a:srgbClr val="475569"/>
                </a:solidFill>
                <a:latin typeface="Inter"/>
              </a:defRPr>
            </a:pPr>
            <a:r>
              <a:t>→ config:cache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41080" y="182880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2200" b="0">
                <a:solidFill>
                  <a:srgbClr val="8A94A6"/>
                </a:solidFill>
                <a:latin typeface="Inter"/>
              </a:defRPr>
            </a:pPr>
            <a: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61120" y="1371600"/>
            <a:ext cx="2377440" cy="13716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D4E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961120" y="1645920"/>
            <a:ext cx="23774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500" b="1">
                <a:solidFill>
                  <a:srgbClr val="1D4ED8"/>
                </a:solidFill>
                <a:latin typeface="Inter"/>
              </a:defRPr>
            </a:pPr>
            <a:r>
              <a:t>MySQL 8.4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44000" y="2057400"/>
            <a:ext cx="20116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0000"/>
              </a:lnSpc>
              <a:defRPr sz="1100" b="0">
                <a:solidFill>
                  <a:srgbClr val="475569"/>
                </a:solidFill>
                <a:latin typeface="Inter"/>
              </a:defRPr>
            </a:pPr>
            <a:r>
              <a:t>Variabel DB_</a:t>
            </a:r>
          </a:p>
          <a:p>
            <a:pPr algn="ctr">
              <a:lnSpc>
                <a:spcPct val="130000"/>
              </a:lnSpc>
              <a:defRPr sz="1100" b="0">
                <a:solidFill>
                  <a:srgbClr val="475569"/>
                </a:solidFill>
                <a:latin typeface="Inter"/>
              </a:defRPr>
            </a:pPr>
            <a:r>
              <a:t>diinjeksi platform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200400"/>
            <a:ext cx="10881360" cy="146304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383280"/>
            <a:ext cx="10332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B45309"/>
                </a:solidFill>
                <a:latin typeface="Inter"/>
              </a:defRPr>
            </a:pPr>
            <a:r>
              <a:t>Dua hal yang paling sering salah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3767328"/>
            <a:ext cx="103327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400"/>
              </a:spcAft>
              <a:defRPr sz="1200">
                <a:solidFill>
                  <a:srgbClr val="475569"/>
                </a:solidFill>
                <a:latin typeface="Inter"/>
              </a:defRPr>
            </a:pPr>
            <a:r>
              <a:t>— config:clear harus sebelum config:cache, kalau tidak konfigurasi lama membeku</a:t>
            </a:r>
          </a:p>
          <a:p>
            <a:pPr>
              <a:lnSpc>
                <a:spcPct val="125000"/>
              </a:lnSpc>
              <a:spcAft>
                <a:spcPts val="400"/>
              </a:spcAft>
              <a:defRPr sz="1200">
                <a:solidFill>
                  <a:srgbClr val="475569"/>
                </a:solidFill>
                <a:latin typeface="Inter"/>
              </a:defRPr>
            </a:pPr>
            <a:r>
              <a:t>— DB_CONNECTION tidak diset → sistem jatuh ke SQLite dan gagal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93776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8A94A6"/>
                </a:solidFill>
                <a:latin typeface="Inter"/>
              </a:defRPr>
            </a:pPr>
            <a:r>
              <a:t>Health check: GET /health → database.state = 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41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MANFAAT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Apa yang berubah bagi setiap pihak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34290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91440" cy="132588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Sekolah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Satu sumber kebenaran; keputusan berbasis data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371600"/>
            <a:ext cx="34290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371600"/>
            <a:ext cx="91440" cy="132588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20" y="1600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Administrasi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Antrean terukur dengan jejak keputusan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1371600"/>
            <a:ext cx="34290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46720" y="1371600"/>
            <a:ext cx="91440" cy="132588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60020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Kesiswaan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01168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Statistik tanpa menyusun ulang spreadsheet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926080"/>
            <a:ext cx="34290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40080" y="2926080"/>
            <a:ext cx="91440" cy="132588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3154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Wali Kelas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5661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Absensi dan kontak orang tua dalam satu layar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2926080"/>
            <a:ext cx="34290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43400" y="2926080"/>
            <a:ext cx="91440" cy="132588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17720" y="3154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Siswa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35661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Tahu langkah berikutnya tanpa bertanya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6720" y="2926080"/>
            <a:ext cx="3429000" cy="13258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46720" y="2926080"/>
            <a:ext cx="91440" cy="132588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21040" y="3154680"/>
            <a:ext cx="2926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500" b="1">
                <a:solidFill>
                  <a:srgbClr val="0F172A"/>
                </a:solidFill>
                <a:latin typeface="Inter"/>
              </a:defRPr>
            </a:pPr>
            <a:r>
              <a:t>Orang Tua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3566160"/>
            <a:ext cx="29260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Memantau anak secara langsung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42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STATUS IMPLEMENTASI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 apa yang selesai, apa yang belum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400" b="0">
                <a:solidFill>
                  <a:srgbClr val="475569"/>
                </a:solidFill>
                <a:latin typeface="Inter"/>
              </a:defRPr>
            </a:pPr>
            <a:r>
              <a:t>Fungsi yang belum selesai ditandai, bukan disembunyikan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1828800"/>
            <a:ext cx="34290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828800"/>
            <a:ext cx="3429000" cy="502920"/>
          </a:xfrm>
          <a:prstGeom prst="roundRect">
            <a:avLst>
              <a:gd name="adj" fmla="val 4000"/>
            </a:avLst>
          </a:prstGeom>
          <a:solidFill>
            <a:srgbClr val="05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19659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FFFFFF"/>
                </a:solidFill>
                <a:latin typeface="Inter"/>
              </a:defRPr>
            </a:pPr>
            <a:r>
              <a:t>IMPLEMENTED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1984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1100" b="0">
                <a:solidFill>
                  <a:srgbClr val="FFFFFF"/>
                </a:solidFill>
                <a:latin typeface="Inter"/>
              </a:defRPr>
            </a:pPr>
            <a:r>
              <a:t>22 fitur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560320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Autentikasi &amp; RBAC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PPDB &amp; verifikasi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Kelas &amp; enrollment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Absensi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Portal orang tua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Laporan &amp; ekspor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PWA &amp; deployment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28800"/>
            <a:ext cx="34290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43400" y="1828800"/>
            <a:ext cx="3429000" cy="502920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FFFFFF"/>
                </a:solidFill>
                <a:latin typeface="Inter"/>
              </a:defRPr>
            </a:pPr>
            <a:r>
              <a:t>PARTIAL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1984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1100" b="0">
                <a:solidFill>
                  <a:srgbClr val="FFFFFF"/>
                </a:solidFill>
                <a:latin typeface="Inter"/>
              </a:defRPr>
            </a:pPr>
            <a:r>
              <a:t>4 fitur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60320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Kenaikan kelas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Tinggal kelas &amp; pindah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Kelulusan &amp; alumni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Impor Excel &amp; laporan per kelas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828800"/>
            <a:ext cx="3429000" cy="356616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429000" cy="502920"/>
          </a:xfrm>
          <a:prstGeom prst="roundRect">
            <a:avLst>
              <a:gd name="adj" fmla="val 4000"/>
            </a:avLst>
          </a:prstGeom>
          <a:solidFill>
            <a:srgbClr val="8A94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75320" y="1965960"/>
            <a:ext cx="22860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1">
                <a:solidFill>
                  <a:srgbClr val="FFFFFF"/>
                </a:solidFill>
                <a:latin typeface="Inter"/>
              </a:defRPr>
            </a:pPr>
            <a:r>
              <a:t>PLANNED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69880" y="1984248"/>
            <a:ext cx="822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1100" b="0">
                <a:solidFill>
                  <a:srgbClr val="FFFFFF"/>
                </a:solidFill>
                <a:latin typeface="Inter"/>
              </a:defRPr>
            </a:pPr>
            <a:r>
              <a:t>2 fitur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2560320"/>
            <a:ext cx="2971800" cy="2651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REST API</a:t>
            </a:r>
          </a:p>
          <a:p>
            <a:pPr>
              <a:lnSpc>
                <a:spcPct val="125000"/>
              </a:lnSpc>
              <a:spcAft>
                <a:spcPts val="500"/>
              </a:spcAft>
              <a:defRPr sz="1100">
                <a:solidFill>
                  <a:srgbClr val="475569"/>
                </a:solidFill>
                <a:latin typeface="Inter"/>
              </a:defRPr>
            </a:pPr>
            <a:r>
              <a:t>— Installer web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566928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200" b="0">
                <a:solidFill>
                  <a:srgbClr val="475569"/>
                </a:solidFill>
                <a:latin typeface="Inter"/>
              </a:defRPr>
            </a:pPr>
            <a:r>
              <a:t>Verifikasi: 67 pengujian otomatis · 16 pemeriksaan HTTP · 25 pemeriksaan DOM · 11 pemeriksaan lingkungan produksi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43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108813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1">
                <a:solidFill>
                  <a:srgbClr val="1D4ED8"/>
                </a:solidFill>
                <a:latin typeface="Inter"/>
              </a:defRPr>
            </a:pPr>
            <a:r>
              <a:t>PENGUJIAN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13232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000" b="1">
                <a:solidFill>
                  <a:srgbClr val="0F172A"/>
                </a:solidFill>
                <a:latin typeface="Manrope"/>
              </a:defRPr>
            </a:pPr>
            <a:r>
              <a:t>Yang dijaga otomatis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371600"/>
            <a:ext cx="10881360" cy="5029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50876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0F172A"/>
                </a:solidFill>
                <a:latin typeface="Inter"/>
              </a:defRPr>
            </a:pPr>
            <a:r>
              <a:t>Alur PPDB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50876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1D4ED8"/>
                </a:solidFill>
                <a:latin typeface="Inter"/>
              </a:defRPr>
            </a:pPr>
            <a:r>
              <a:t>AcceptanceJourneyTest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589520" y="150876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Pendaftaran sampai diverifikasi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993392"/>
            <a:ext cx="10881360" cy="5029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0F172A"/>
                </a:solidFill>
                <a:latin typeface="Inter"/>
              </a:defRPr>
            </a:pPr>
            <a:r>
              <a:t>Batas akses peran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130552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1D4ED8"/>
                </a:solidFill>
                <a:latin typeface="Inter"/>
              </a:defRPr>
            </a:pPr>
            <a:r>
              <a:t>RoleAccessTest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89520" y="2130552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Enam peran dan batas aksesnya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615184"/>
            <a:ext cx="10881360" cy="5029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2752344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0F172A"/>
                </a:solidFill>
                <a:latin typeface="Inter"/>
              </a:defRPr>
            </a:pPr>
            <a:r>
              <a:t>Isolasi data siswa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2752344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1D4ED8"/>
                </a:solidFill>
                <a:latin typeface="Inter"/>
              </a:defRPr>
            </a:pPr>
            <a:r>
              <a:t>StudentProfileAuthorizationTest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20" y="2752344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Siswa tidak dapat melihat milik orang lain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236976"/>
            <a:ext cx="10881360" cy="5029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3374136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0F172A"/>
                </a:solidFill>
                <a:latin typeface="Inter"/>
              </a:defRPr>
            </a:pPr>
            <a:r>
              <a:t>Cakupan kelas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49039" y="3374136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1D4ED8"/>
                </a:solidFill>
                <a:latin typeface="Inter"/>
              </a:defRPr>
            </a:pPr>
            <a:r>
              <a:t>ClassScopeAuthorizationTest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589520" y="3374136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Tes A, B, C, F, G, 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3858768"/>
            <a:ext cx="10881360" cy="5029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8680" y="3995928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0F172A"/>
                </a:solidFill>
                <a:latin typeface="Inter"/>
              </a:defRPr>
            </a:pPr>
            <a:r>
              <a:t>Integritas enrollment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49039" y="3995928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1D4ED8"/>
                </a:solidFill>
                <a:latin typeface="Inter"/>
              </a:defRPr>
            </a:pPr>
            <a:r>
              <a:t>EnrollmentIntegrityTest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20" y="3995928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Enrollment ganda, kelas terarsip, kenaikan ganda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80560"/>
            <a:ext cx="10881360" cy="502920"/>
          </a:xfrm>
          <a:prstGeom prst="roundRect">
            <a:avLst>
              <a:gd name="adj" fmla="val 4000"/>
            </a:avLst>
          </a:prstGeom>
          <a:solidFill>
            <a:srgbClr val="F7F9FC"/>
          </a:solidFill>
          <a:ln w="12700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617720"/>
            <a:ext cx="2743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0F172A"/>
                </a:solidFill>
                <a:latin typeface="Inter"/>
              </a:defRPr>
            </a:pPr>
            <a:r>
              <a:t>Isolasi workspace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749039" y="46177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1D4ED8"/>
                </a:solidFill>
                <a:latin typeface="Inter"/>
              </a:defRPr>
            </a:pPr>
            <a:r>
              <a:t>WorkspaceAuthorizationTest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9520" y="4617720"/>
            <a:ext cx="3749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100" b="0">
                <a:solidFill>
                  <a:srgbClr val="8A94A6"/>
                </a:solidFill>
                <a:latin typeface="Inter"/>
              </a:defRPr>
            </a:pPr>
            <a:r>
              <a:t>Workspace dan portal orang tua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486400"/>
            <a:ext cx="10881360" cy="822960"/>
          </a:xfrm>
          <a:prstGeom prst="roundRect">
            <a:avLst>
              <a:gd name="adj" fmla="val 4000"/>
            </a:avLst>
          </a:prstGeom>
          <a:solidFill>
            <a:srgbClr val="EEF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5715000"/>
            <a:ext cx="10332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defRPr sz="1400" b="1">
                <a:solidFill>
                  <a:srgbClr val="1D4ED8"/>
                </a:solidFill>
                <a:latin typeface="Inter"/>
              </a:defRPr>
            </a:pPr>
            <a:r>
              <a:t>67 pengujian · 237 pernyataan   |   Seluruhnya berjalan pada tiap push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6355080"/>
            <a:ext cx="7315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Sistem Informasi Data Siswa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911535" y="6355080"/>
            <a:ext cx="6400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  <a:defRPr sz="900" b="0">
                <a:solidFill>
                  <a:srgbClr val="8A94A6"/>
                </a:solidFill>
                <a:latin typeface="Inter"/>
              </a:defRPr>
            </a:pPr>
            <a:r>
              <a:t>44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46304" cy="6858000"/>
          </a:xfrm>
          <a:prstGeom prst="roundRect">
            <a:avLst>
              <a:gd name="adj" fmla="val 4000"/>
            </a:avLst>
          </a:prstGeom>
          <a:solidFill>
            <a:srgbClr val="1D4E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05840" y="914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1">
                <a:solidFill>
                  <a:srgbClr val="0891B2"/>
                </a:solidFill>
                <a:latin typeface="Inter"/>
              </a:defRPr>
            </a:pPr>
            <a:r>
              <a:t>KESIMPULAN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1371600"/>
            <a:ext cx="96926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3200" b="1">
                <a:solidFill>
                  <a:srgbClr val="FFFFFF"/>
                </a:solidFill>
                <a:latin typeface="Manrope"/>
              </a:defRPr>
            </a:pPr>
            <a:r>
              <a:t>Empat hal yang berhasil diselesaikan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56032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800" b="1">
                <a:solidFill>
                  <a:srgbClr val="1D4ED8"/>
                </a:solidFill>
                <a:latin typeface="Inter"/>
              </a:defRPr>
            </a:pPr>
            <a: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256032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1">
                <a:solidFill>
                  <a:srgbClr val="FFFFFF"/>
                </a:solidFill>
                <a:latin typeface="Inter"/>
              </a:defRPr>
            </a:pPr>
            <a:r>
              <a:t>Satu identitas siswa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88950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94A3B8"/>
                </a:solidFill>
                <a:latin typeface="Inter"/>
              </a:defRPr>
            </a:pPr>
            <a:r>
              <a:t>Banyak konteks akademik per tahun ajaran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338328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800" b="1">
                <a:solidFill>
                  <a:srgbClr val="1D4ED8"/>
                </a:solidFill>
                <a:latin typeface="Inter"/>
              </a:defRPr>
            </a:pPr>
            <a: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338328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1">
                <a:solidFill>
                  <a:srgbClr val="FFFFFF"/>
                </a:solidFill>
                <a:latin typeface="Inter"/>
              </a:defRPr>
            </a:pPr>
            <a:r>
              <a:t>Riwayat tidak pernah hilang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371246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94A3B8"/>
                </a:solidFill>
                <a:latin typeface="Inter"/>
              </a:defRPr>
            </a:pPr>
            <a:r>
              <a:t>Naik kelas menambah, bukan menimpa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42062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800" b="1">
                <a:solidFill>
                  <a:srgbClr val="1D4ED8"/>
                </a:solidFill>
                <a:latin typeface="Inter"/>
              </a:defRPr>
            </a:pPr>
            <a: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420624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1">
                <a:solidFill>
                  <a:srgbClr val="FFFFFF"/>
                </a:solidFill>
                <a:latin typeface="Inter"/>
              </a:defRPr>
            </a:pPr>
            <a:r>
              <a:t>Akses berbasis sumber daya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453542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94A3B8"/>
                </a:solidFill>
                <a:latin typeface="Inter"/>
              </a:defRPr>
            </a:pPr>
            <a:r>
              <a:t>Izin, cakupan, dan penugasan sekaligus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502920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800" b="1">
                <a:solidFill>
                  <a:srgbClr val="1D4ED8"/>
                </a:solidFill>
                <a:latin typeface="Inter"/>
              </a:defRPr>
            </a:pPr>
            <a: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5029200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700" b="1">
                <a:solidFill>
                  <a:srgbClr val="FFFFFF"/>
                </a:solidFill>
                <a:latin typeface="Inter"/>
              </a:defRPr>
            </a:pPr>
            <a:r>
              <a:t>Administrasi terpadu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5358384"/>
            <a:ext cx="8686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300" b="0">
                <a:solidFill>
                  <a:srgbClr val="94A3B8"/>
                </a:solidFill>
                <a:latin typeface="Inter"/>
              </a:defRPr>
            </a:pPr>
            <a:r>
              <a:t>PPDB hingga laporan dalam satu sistem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9436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defRPr sz="1200" b="0">
                <a:solidFill>
                  <a:srgbClr val="64748B"/>
                </a:solidFill>
                <a:latin typeface="Inter"/>
              </a:defRPr>
            </a:pPr>
            <a:r>
              <a:t>github.com/pujosety/Sistem-Informasi-Data-Siswa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