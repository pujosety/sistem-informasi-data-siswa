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3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4000"/>
            </a:avLst>
          </a:prstGeom>
          <a:solidFill>
            <a:srgbClr val="166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35C6F3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4600" b="1">
                <a:solidFill>
                  <a:srgbClr val="FFFFFF"/>
                </a:solidFill>
                <a:latin typeface="Manrope"/>
              </a:defRPr>
            </a:pPr>
            <a:r>
              <a:t>Administrasi Sekolah</a:t>
            </a:r>
          </a:p>
          <a:p>
            <a:pPr algn="l">
              <a:lnSpc>
                <a:spcPct val="105000"/>
              </a:lnSpc>
              <a:defRPr sz="4600" b="1">
                <a:solidFill>
                  <a:srgbClr val="FFFFFF"/>
                </a:solidFill>
                <a:latin typeface="Manrope"/>
              </a:defRPr>
            </a:pPr>
            <a:r>
              <a:t>dalam Satu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8412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defRPr sz="1500" b="0">
                <a:solidFill>
                  <a:srgbClr val="B8C6E0"/>
                </a:solidFill>
                <a:latin typeface="Inter"/>
              </a:defRPr>
            </a:pPr>
            <a:r>
              <a:t>PPDB · Verifikasi · Kelas &amp; Enrollment · Absensi · Nilai · Portal Orang Tua</a:t>
            </a:r>
          </a:p>
          <a:p>
            <a:pPr algn="l">
              <a:lnSpc>
                <a:spcPct val="140000"/>
              </a:lnSpc>
              <a:defRPr sz="1500" b="0">
                <a:solidFill>
                  <a:srgbClr val="B8C6E0"/>
                </a:solidFill>
                <a:latin typeface="Inter"/>
              </a:defRPr>
            </a:pPr>
            <a:r>
              <a:t>Laravel 12 · MySQL 8.4 · PWA · Wasmer</a:t>
            </a:r>
          </a:p>
        </p:txBody>
      </p:sp>
      <p:pic>
        <p:nvPicPr>
          <p:cNvPr id="6" name="Picture 5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554480"/>
            <a:ext cx="3291840" cy="2057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6035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8EA3C4"/>
                </a:solidFill>
                <a:latin typeface="Inter"/>
              </a:defRPr>
            </a:pPr>
            <a:r>
              <a:t>github.com/pujosety/Sistem-Informasi-Data-Siswa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LATAR BELAKANG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Data siswa tersebar di banyak tempat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3A4A66"/>
                </a:solidFill>
                <a:latin typeface="Inter"/>
              </a:defRPr>
            </a:pPr>
            <a:r>
              <a:t>Sekolah umumnya menyimpan data di beberapa lokasi sekaligus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06040" cy="173736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Buku pendaftaran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Catatan kertas di ruang kesiswaan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606040" cy="173736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10312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Basis data 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56032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Dokumen lama yang tidak terenkripsi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2606040" cy="173736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Folder berkas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6032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Scan identitas dan ijazah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828800"/>
            <a:ext cx="2606040" cy="173736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10312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Spreadsheet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56032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Disusun ulang setiap tahun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10881360" cy="1188720"/>
          </a:xfrm>
          <a:prstGeom prst="roundRect">
            <a:avLst>
              <a:gd name="adj" fmla="val 4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668DC"/>
                </a:solidFill>
                <a:latin typeface="Inter"/>
              </a:defRPr>
            </a:pPr>
            <a:r>
              <a:t>Akibatnya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988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0B3375"/>
                </a:solidFill>
                <a:latin typeface="Inter"/>
              </a:defRPr>
            </a:pPr>
            <a:r>
              <a:t>Sulit menjawab siapa yang sudah terverifikasi, kelas mana yang belum lengkap,</a:t>
            </a:r>
          </a:p>
          <a:p>
            <a:pPr algn="l">
              <a:lnSpc>
                <a:spcPct val="130000"/>
              </a:lnSpc>
              <a:defRPr sz="1400" b="0">
                <a:solidFill>
                  <a:srgbClr val="0B3375"/>
                </a:solidFill>
                <a:latin typeface="Inter"/>
              </a:defRPr>
            </a:pPr>
            <a:r>
              <a:t>dan bagaimana seorang siswa berkembang dari kelas X sampai lulus.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Tujuh hambatan yang berulang setiap tahun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668DC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3716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Data terfragmentasi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276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Sulit's mencari satu sumber kebenaran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8483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668DC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8483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Antrean tak terukur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4086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Verifikasi ditangani sebagai daftar, bukan antrean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9806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668DC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980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Ketergantungan spreadsheet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5409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Kerusakan data sulit dilacak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1129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668DC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1129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Alur dokumen buram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67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Siswa tidak tahu berkas mana yang kurang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3716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668DC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3716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Akses sulit dibatasi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6276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Otorisasi berbasis nama peran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08483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668DC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08483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Riwayat hilang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34086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Naik kelas menimpa, bukan menambah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79806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668DC"/>
                </a:solidFill>
                <a:latin typeface="Inter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7980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Komunikasi terbatas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05409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Informasi hanya disampaikan lisan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TUJUAN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Lima tujuan yang membentuk arah proyek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0574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057400" cy="109728"/>
          </a:xfrm>
          <a:prstGeom prst="roundRect">
            <a:avLst>
              <a:gd name="adj" fmla="val 4000"/>
            </a:avLst>
          </a:prstGeom>
          <a:solidFill>
            <a:srgbClr val="166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655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B3375"/>
                </a:solidFill>
                <a:latin typeface="Manrope"/>
              </a:defRPr>
            </a:pPr>
            <a:r>
              <a:t>Memusatkan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286000"/>
            <a:ext cx="16550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Satu skema yang mempertahankan riwayat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371600"/>
            <a:ext cx="20574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1371600"/>
            <a:ext cx="2057400" cy="109728"/>
          </a:xfrm>
          <a:prstGeom prst="roundRect">
            <a:avLst>
              <a:gd name="adj" fmla="val 4000"/>
            </a:avLst>
          </a:prstGeom>
          <a:solidFill>
            <a:srgbClr val="166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1783080"/>
            <a:ext cx="1655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B3375"/>
                </a:solidFill>
                <a:latin typeface="Manrope"/>
              </a:defRPr>
            </a:pPr>
            <a:r>
              <a:t>Menyederhanakan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286000"/>
            <a:ext cx="16550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Prosedur manual menjadi alur terukur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371600"/>
            <a:ext cx="20574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1371600"/>
            <a:ext cx="2057400" cy="109728"/>
          </a:xfrm>
          <a:prstGeom prst="roundRect">
            <a:avLst>
              <a:gd name="adj" fmla="val 4000"/>
            </a:avLst>
          </a:prstGeom>
          <a:solidFill>
            <a:srgbClr val="166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1783080"/>
            <a:ext cx="1655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B3375"/>
                </a:solidFill>
                <a:latin typeface="Manrope"/>
              </a:defRPr>
            </a:pPr>
            <a:r>
              <a:t>Melindungi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286000"/>
            <a:ext cx="16550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Otorisasi server-side, bukan sekadar menu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371600"/>
            <a:ext cx="20574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23760" y="1371600"/>
            <a:ext cx="2057400" cy="109728"/>
          </a:xfrm>
          <a:prstGeom prst="roundRect">
            <a:avLst>
              <a:gd name="adj" fmla="val 4000"/>
            </a:avLst>
          </a:prstGeom>
          <a:solidFill>
            <a:srgbClr val="166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4928" y="1783080"/>
            <a:ext cx="1655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B3375"/>
                </a:solidFill>
                <a:latin typeface="Manrope"/>
              </a:defRPr>
            </a:pPr>
            <a:r>
              <a:t>Melacak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2286000"/>
            <a:ext cx="16550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Setiap keputusan tercatat dan dapat diaudit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1371600"/>
            <a:ext cx="20574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18320" y="1371600"/>
            <a:ext cx="2057400" cy="109728"/>
          </a:xfrm>
          <a:prstGeom prst="roundRect">
            <a:avLst>
              <a:gd name="adj" fmla="val 4000"/>
            </a:avLst>
          </a:prstGeom>
          <a:solidFill>
            <a:srgbClr val="166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9488" y="1783080"/>
            <a:ext cx="1655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B3375"/>
                </a:solidFill>
                <a:latin typeface="Manrope"/>
              </a:defRPr>
            </a:pPr>
            <a:r>
              <a:t>Mengotomasi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2286000"/>
            <a:ext cx="16550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Hitungan dan laporan tanpa kerja ulang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40480"/>
            <a:ext cx="10881360" cy="10058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09651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500" b="0">
                <a:solidFill>
                  <a:srgbClr val="0B3375"/>
                </a:solidFill>
                <a:latin typeface="Inter"/>
              </a:defRPr>
            </a:pPr>
            <a:r>
              <a:t>Prinsip yang dipegang: menyembunyikan tombol bukan keamanan,</a:t>
            </a:r>
          </a:p>
          <a:p>
            <a:pPr algn="l">
              <a:lnSpc>
                <a:spcPct val="130000"/>
              </a:lnSpc>
              <a:defRPr sz="1500" b="0">
                <a:solidFill>
                  <a:srgbClr val="0B3375"/>
                </a:solidFill>
                <a:latin typeface="Inter"/>
              </a:defRPr>
            </a:pPr>
            <a:r>
              <a:t>dan mengubah angka pada URL tidak membuka apa pun.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SOLUSI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Satu alur, dari pendaftaran sampai kelulusan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3A4A66"/>
                </a:solidFill>
                <a:latin typeface="Inter"/>
              </a:defRPr>
            </a:pPr>
            <a:r>
              <a:t>Setiap tahap punya status yang jelas bagi semua pihak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463040" cy="640080"/>
          </a:xfrm>
          <a:prstGeom prst="roundRect">
            <a:avLst>
              <a:gd name="adj" fmla="val 4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299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Akun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993392"/>
            <a:ext cx="109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800" b="0">
                <a:solidFill>
                  <a:srgbClr val="7A88A0"/>
                </a:solidFill>
                <a:latin typeface="Inter"/>
              </a:defRPr>
            </a:pPr>
            <a: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12848" y="1828800"/>
            <a:ext cx="1463040" cy="640080"/>
          </a:xfrm>
          <a:prstGeom prst="roundRect">
            <a:avLst>
              <a:gd name="adj" fmla="val 4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2848" y="20299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Pribadi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8" y="1993392"/>
            <a:ext cx="109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800" b="0">
                <a:solidFill>
                  <a:srgbClr val="7A88A0"/>
                </a:solidFill>
                <a:latin typeface="Inter"/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85616" y="1828800"/>
            <a:ext cx="1463040" cy="640080"/>
          </a:xfrm>
          <a:prstGeom prst="roundRect">
            <a:avLst>
              <a:gd name="adj" fmla="val 4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5616" y="20299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Orang Tua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656" y="1993392"/>
            <a:ext cx="109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800" b="0">
                <a:solidFill>
                  <a:srgbClr val="7A88A0"/>
                </a:solidFill>
                <a:latin typeface="Inter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58384" y="1828800"/>
            <a:ext cx="1463040" cy="640080"/>
          </a:xfrm>
          <a:prstGeom prst="roundRect">
            <a:avLst>
              <a:gd name="adj" fmla="val 4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8384" y="20299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Pendidikan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993392"/>
            <a:ext cx="109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800" b="0">
                <a:solidFill>
                  <a:srgbClr val="7A88A0"/>
                </a:solidFill>
                <a:latin typeface="Inter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31152" y="1828800"/>
            <a:ext cx="1463040" cy="640080"/>
          </a:xfrm>
          <a:prstGeom prst="roundRect">
            <a:avLst>
              <a:gd name="adj" fmla="val 4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20299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Dokumen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1993392"/>
            <a:ext cx="109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800" b="0">
                <a:solidFill>
                  <a:srgbClr val="7A88A0"/>
                </a:solidFill>
                <a:latin typeface="Inter"/>
              </a:defRPr>
            </a:pPr>
            <a: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1828800"/>
            <a:ext cx="1463040" cy="640080"/>
          </a:xfrm>
          <a:prstGeom prst="roundRect">
            <a:avLst>
              <a:gd name="adj" fmla="val 4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0299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1993392"/>
            <a:ext cx="109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800" b="0">
                <a:solidFill>
                  <a:srgbClr val="7A88A0"/>
                </a:solidFill>
                <a:latin typeface="Inter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76688" y="1828800"/>
            <a:ext cx="1463040" cy="640080"/>
          </a:xfrm>
          <a:prstGeom prst="roundRect">
            <a:avLst>
              <a:gd name="adj" fmla="val 4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76688" y="20299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Submit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834640"/>
            <a:ext cx="5120640" cy="2103120"/>
          </a:xfrm>
          <a:prstGeom prst="roundRect">
            <a:avLst>
              <a:gd name="adj" fmla="val 4000"/>
            </a:avLst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108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FFFFFF"/>
                </a:solidFill>
                <a:latin typeface="Inter"/>
              </a:defRPr>
            </a:pPr>
            <a:r>
              <a:t>Disetujui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6118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300" b="0">
                <a:solidFill>
                  <a:srgbClr val="FFFFFF"/>
                </a:solidFill>
                <a:latin typeface="Inter"/>
              </a:defRPr>
            </a:pPr>
            <a:r>
              <a:t>Pendaftaran selesai.</a:t>
            </a:r>
          </a:p>
          <a:p>
            <a:pPr algn="l">
              <a:lnSpc>
                <a:spcPct val="135000"/>
              </a:lnSpc>
              <a:defRPr sz="1300" b="0">
                <a:solidFill>
                  <a:srgbClr val="FFFFFF"/>
                </a:solidFill>
                <a:latin typeface="Inter"/>
              </a:defRPr>
            </a:pPr>
            <a:r>
              <a:t>Siswa dapat ditempatkan ke kelas.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834640"/>
            <a:ext cx="5120640" cy="210312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108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FFFFFF"/>
                </a:solidFill>
                <a:latin typeface="Inter"/>
              </a:defRPr>
            </a:pPr>
            <a:r>
              <a:t>Perlu perbaikan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6118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300" b="0">
                <a:solidFill>
                  <a:srgbClr val="FFFFFF"/>
                </a:solidFill>
                <a:latin typeface="Inter"/>
              </a:defRPr>
            </a:pPr>
            <a:r>
              <a:t>Alasan wajib diisi.</a:t>
            </a:r>
          </a:p>
          <a:p>
            <a:pPr algn="l">
              <a:lnSpc>
                <a:spcPct val="135000"/>
              </a:lnSpc>
              <a:defRPr sz="1300" b="0">
                <a:solidFill>
                  <a:srgbClr val="FFFFFF"/>
                </a:solidFill>
                <a:latin typeface="Inter"/>
              </a:defRPr>
            </a:pPr>
            <a:r>
              <a:t>Siswa memperbaiki, lalu diverifikasi ulang.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PENGGUNA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Delapan tingkat, delapan pekerjaan berbeda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60604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606040" cy="91440"/>
          </a:xfrm>
          <a:prstGeom prst="roundRect">
            <a:avLst>
              <a:gd name="adj" fmla="val 4000"/>
            </a:avLst>
          </a:prstGeom>
          <a:solidFill>
            <a:srgbClr val="166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45920"/>
            <a:ext cx="2203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Super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29968"/>
            <a:ext cx="22037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Kendali sistem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0604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606040" cy="91440"/>
          </a:xfrm>
          <a:prstGeom prst="roundRect">
            <a:avLst>
              <a:gd name="adj" fmla="val 4000"/>
            </a:avLst>
          </a:prstGeom>
          <a:solidFill>
            <a:srgbClr val="166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645920"/>
            <a:ext cx="2203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029968"/>
            <a:ext cx="22037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Administrasi harian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60604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2606040" cy="91440"/>
          </a:xfrm>
          <a:prstGeom prst="roundRect">
            <a:avLst>
              <a:gd name="adj" fmla="val 4000"/>
            </a:avLst>
          </a:prstGeom>
          <a:solidFill>
            <a:srgbClr val="166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645920"/>
            <a:ext cx="2203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Kesiswaan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029968"/>
            <a:ext cx="22037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Siklus hidup siswa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371600"/>
            <a:ext cx="260604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69680" y="1371600"/>
            <a:ext cx="2606040" cy="91440"/>
          </a:xfrm>
          <a:prstGeom prst="roundRect">
            <a:avLst>
              <a:gd name="adj" fmla="val 4000"/>
            </a:avLst>
          </a:prstGeom>
          <a:solidFill>
            <a:srgbClr val="166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0848" y="1645920"/>
            <a:ext cx="2203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2029968"/>
            <a:ext cx="22037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Entri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08960"/>
            <a:ext cx="260604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108960"/>
            <a:ext cx="2606040" cy="91440"/>
          </a:xfrm>
          <a:prstGeom prst="roundRect">
            <a:avLst>
              <a:gd name="adj" fmla="val 4000"/>
            </a:avLst>
          </a:prstGeom>
          <a:solidFill>
            <a:srgbClr val="166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383280"/>
            <a:ext cx="2203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Verifikator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767328"/>
            <a:ext cx="22037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Antrean verifikasi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3108960"/>
            <a:ext cx="260604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83280" y="3108960"/>
            <a:ext cx="2606040" cy="91440"/>
          </a:xfrm>
          <a:prstGeom prst="roundRect">
            <a:avLst>
              <a:gd name="adj" fmla="val 4000"/>
            </a:avLst>
          </a:prstGeom>
          <a:solidFill>
            <a:srgbClr val="35C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4448" y="3383280"/>
            <a:ext cx="2203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Wali Kelas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4448" y="3767328"/>
            <a:ext cx="22037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Kelas yang ditugaskan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108960"/>
            <a:ext cx="260604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26480" y="3108960"/>
            <a:ext cx="2606040" cy="91440"/>
          </a:xfrm>
          <a:prstGeom prst="roundRect">
            <a:avLst>
              <a:gd name="adj" fmla="val 4000"/>
            </a:avLst>
          </a:prstGeom>
          <a:solidFill>
            <a:srgbClr val="166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3383280"/>
            <a:ext cx="2203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Siswa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767328"/>
            <a:ext cx="22037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Layanan mandiri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680" y="3108960"/>
            <a:ext cx="260604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869680" y="3108960"/>
            <a:ext cx="2606040" cy="91440"/>
          </a:xfrm>
          <a:prstGeom prst="roundRect">
            <a:avLst>
              <a:gd name="adj" fmla="val 4000"/>
            </a:avLst>
          </a:prstGeom>
          <a:solidFill>
            <a:srgbClr val="35C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0848" y="3383280"/>
            <a:ext cx="2203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Orang Tua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3767328"/>
            <a:ext cx="22037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Memantau anak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7A88A0"/>
                </a:solidFill>
                <a:latin typeface="Inter"/>
              </a:defRPr>
            </a:pPr>
            <a:r>
              <a:t>Biru = berasal dari role.   Tosca = berasal dari penugasan atau relasi, bukan role.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ARSITEKTUR TINGKAT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Role, izin, penugasan, dan cakupan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3A4A66"/>
                </a:solidFill>
                <a:latin typeface="Inter"/>
              </a:defRPr>
            </a:pPr>
            <a:r>
              <a:t>Empat konsep yang sengaja dipisahkan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377440" cy="594360"/>
          </a:xfrm>
          <a:prstGeom prst="roundRect">
            <a:avLst>
              <a:gd name="adj" fmla="val 4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92024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Kesiswaan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7627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Siapa orangnya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2377440" cy="594360"/>
          </a:xfrm>
          <a:prstGeom prst="roundRect">
            <a:avLst>
              <a:gd name="adj" fmla="val 4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PERMISSION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974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classroom.student.view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95351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Apa yang boleh dilakukan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83280"/>
            <a:ext cx="2377440" cy="594360"/>
          </a:xfrm>
          <a:prstGeom prst="roundRect">
            <a:avLst>
              <a:gd name="adj" fmla="val 4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661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ASSIGNMENT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4747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Wali kelas X RPL 1 · 2026/2027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73075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Apa yang ditanggung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2377440" cy="594360"/>
          </a:xfrm>
          <a:prstGeom prst="roundRect">
            <a:avLst>
              <a:gd name="adj" fmla="val 4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434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RESOURCE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25196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Hanya siswa di X RPL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50799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Data mana yang boleh dilihat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name="adj" fmla="val 4000"/>
            </a:avLst>
          </a:prstGeom>
          <a:solidFill>
            <a:srgbClr val="0B3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FFFFFF"/>
                </a:solidFill>
                <a:latin typeface="Inter"/>
              </a:defRPr>
            </a:pPr>
            <a:r>
              <a:t>Izin + Cakupan + Penugasan  →  Diizinkan atau Ditolak</a:t>
            </a:r>
          </a:p>
          <a:p>
            <a:pPr algn="l">
              <a:lnSpc>
                <a:spcPct val="130000"/>
              </a:lnSpc>
              <a:defRPr sz="1300" b="0">
                <a:solidFill>
                  <a:srgbClr val="FFFFFF"/>
                </a:solidFill>
                <a:latin typeface="Inter"/>
              </a:defRPr>
            </a:pPr>
            <a:r>
              <a:t>Memegang izin tanpa penugasan tidak membuka apa pun.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TEKNOLOGI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Tumpukan yang dipilih dan alasannya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29000" cy="7772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99616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Laravel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0136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PHP 8.4 · monolit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29000" cy="7772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499616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Blade + Alpine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80136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Tanpa SPA terpisah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29000" cy="7772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499616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Tailwind CSS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180136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Token semantik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331720"/>
            <a:ext cx="3429000" cy="7772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459736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76148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Build aset + PWA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331720"/>
            <a:ext cx="3429000" cy="7772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2459736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MySQL 8.4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76148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95 tabel · InnoDB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331720"/>
            <a:ext cx="3429000" cy="7772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459736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Spatie Permission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76148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85 izin · 7 peran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91840"/>
            <a:ext cx="3429000" cy="7772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419856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Laravel Excel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372160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Ekspor laporan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291840"/>
            <a:ext cx="3429000" cy="7772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3419856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DomPDF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372160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Laporan PDF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291840"/>
            <a:ext cx="3429000" cy="7772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419856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Docker Compose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72160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Pengembangan lokal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251960"/>
            <a:ext cx="3429000" cy="7772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379976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GitHub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68172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Test + build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251960"/>
            <a:ext cx="3429000" cy="7772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4568" y="4379976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B3375"/>
                </a:solidFill>
                <a:latin typeface="Inter"/>
              </a:defRPr>
            </a:pPr>
            <a:r>
              <a:t>Wasmer 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68172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Produksi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ARSITEKTUR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Jalur permintaan sebenarnya</a:t>
            </a:r>
          </a:p>
        </p:txBody>
      </p:sp>
      <p:pic>
        <p:nvPicPr>
          <p:cNvPr id="4" name="Picture 3" descr="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371600"/>
            <a:ext cx="2983998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7A88A0"/>
                </a:solidFill>
                <a:latin typeface="Inter"/>
              </a:defRPr>
            </a:pPr>
            <a:r>
              <a:t>Controller tidak membuat keputusan izin — itu milik Policy atau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AUTENTIKASI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Masuk dan langsung sampai ke ruang kerja yang tepat</a:t>
            </a:r>
          </a:p>
        </p:txBody>
      </p:sp>
      <p:pic>
        <p:nvPicPr>
          <p:cNvPr id="4" name="Picture 3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486400" cy="3429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35040" y="1371600"/>
            <a:ext cx="54864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4562856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Halaman masuk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029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Masuk dengan email dan kata sandi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Session dirotasi setelah berhasil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Akun nonaktif ditolak meski izinnya masih ada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Rate limit 6 percobaan per menit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Pengguna dengan banyak ruang kerja dapat berpindah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97680"/>
            <a:ext cx="5029200" cy="749808"/>
          </a:xfrm>
          <a:prstGeom prst="roundRect">
            <a:avLst>
              <a:gd name="adj" fmla="val 4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622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Catatan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646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864608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0B3375"/>
                </a:solidFill>
                <a:latin typeface="Inter"/>
              </a:defRPr>
            </a:pPr>
            <a:r>
              <a:t>Tidak ada akun ganda untuk wali kelas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WORKSPACE ·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Kendali sistem</a:t>
            </a:r>
          </a:p>
        </p:txBody>
      </p:sp>
      <p:pic>
        <p:nvPicPr>
          <p:cNvPr id="4" name="Picture 3" descr="02-super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669280" cy="35433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52160" y="1371600"/>
            <a:ext cx="5669280" cy="3543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4677156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Super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668DC"/>
                </a:solidFill>
                <a:latin typeface="Inter"/>
              </a:defRPr>
            </a:pPr>
            <a:r>
              <a:t>Super Admin — Kendali sistem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Konfigurasi, pengguna, role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Konfigurasi akademik dan master data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Ringkasan operasional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Aktivitas terakhir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WORKSPACE ·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Administrasi harian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668DC"/>
                </a:solidFill>
                <a:latin typeface="Inter"/>
              </a:defRPr>
            </a:pPr>
            <a:r>
              <a:t>Admin — Administrasi harian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Antrean yang perlu tindakan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Metrik siswa terverifikasi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Antrean pendaftaran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Data yang belum lengkap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WORKSPACE · KESISWAAN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Siklus hidup siswa</a:t>
            </a:r>
          </a:p>
        </p:txBody>
      </p:sp>
      <p:pic>
        <p:nvPicPr>
          <p:cNvPr id="4" name="Picture 3" descr="06-kesiswaa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669280" cy="35433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52160" y="1371600"/>
            <a:ext cx="5669280" cy="3543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4677156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Kesiswaan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668DC"/>
                </a:solidFill>
                <a:latin typeface="Inter"/>
              </a:defRPr>
            </a:pPr>
            <a:r>
              <a:t>Kesiswaan — Siklus hidup siswa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Siswa aktif dan jumlah kelas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Siswa yang belum ditempatkan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Sebaran per tingkat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Sebaran per jurusan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WORKSPACE · OPERATOR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Entri data</a:t>
            </a:r>
          </a:p>
        </p:txBody>
      </p:sp>
      <p:pic>
        <p:nvPicPr>
          <p:cNvPr id="4" name="Picture 3" descr="09-operato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669280" cy="35433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52160" y="1371600"/>
            <a:ext cx="5669280" cy="3543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4677156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668DC"/>
                </a:solidFill>
                <a:latin typeface="Inter"/>
              </a:defRPr>
            </a:pPr>
            <a:r>
              <a:t>Operator — Entri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Draft yang menunggu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Data yang belum lengkap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Siswa belum ditempatkan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Daftar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WORKSPACE · VERIFIKATOR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Antrean verifikasi</a:t>
            </a:r>
          </a:p>
        </p:txBody>
      </p:sp>
      <p:pic>
        <p:nvPicPr>
          <p:cNvPr id="4" name="Picture 3" descr="11-verification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669280" cy="35433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52160" y="1371600"/>
            <a:ext cx="5669280" cy="3543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4677156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Verifikator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668DC"/>
                </a:solidFill>
                <a:latin typeface="Inter"/>
              </a:defRPr>
            </a:pPr>
            <a:r>
              <a:t>Verifikator — Antrean verifikasi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Antrean dengan prioritas terlama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Perlu perbaikan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Selesai hari ini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Tanpa analitik — fokus bereskan antrean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WORKSPACE · SISWA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Layanan mandiri</a:t>
            </a:r>
          </a:p>
        </p:txBody>
      </p:sp>
      <p:pic>
        <p:nvPicPr>
          <p:cNvPr id="4" name="Picture 3" descr="16-studen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669280" cy="35433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52160" y="1371600"/>
            <a:ext cx="5669280" cy="3543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4677156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668DC"/>
                </a:solidFill>
                <a:latin typeface="Inter"/>
              </a:defRPr>
            </a:pPr>
            <a:r>
              <a:t>Siswa — Layanan mandiri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Status pendaftaran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Progres kelengkapan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Langkah selanjutnya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Dokumen yang perlu diunggah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WORKSPACE · ORANG TUA / WALI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Memantau anak</a:t>
            </a:r>
          </a:p>
        </p:txBody>
      </p:sp>
      <p:pic>
        <p:nvPicPr>
          <p:cNvPr id="4" name="Picture 3" descr="20-paren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669280" cy="35433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52160" y="1371600"/>
            <a:ext cx="5669280" cy="3543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4677156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Orang Tua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668DC"/>
                </a:solidFill>
                <a:latin typeface="Inter"/>
              </a:defRPr>
            </a:pPr>
            <a:r>
              <a:t>Orang Tua / Wali — Memantau anak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Satu kartu per anak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Kelas dan kehadiran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Kelengkapan data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Nilai yang sudah terbit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PPDB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Antrean verifikasi dengan jejak keputusan</a:t>
            </a:r>
          </a:p>
        </p:txBody>
      </p:sp>
      <p:pic>
        <p:nvPicPr>
          <p:cNvPr id="4" name="Picture 3" descr="03-ppdb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669280" cy="35433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52160" y="1371600"/>
            <a:ext cx="5669280" cy="3543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4677156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Antrean pendaftaran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Verifikator bekerja dari antrean, bukan daftar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Pendaftaran terlama berada di atas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Setiap penolakan wajib disertai alasan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Siswa menerima notifikasi hasilnya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0"/>
            <a:ext cx="4937760" cy="914400"/>
          </a:xfrm>
          <a:prstGeom prst="roundRect">
            <a:avLst>
              <a:gd name="adj" fmla="val 4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15968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1668DC"/>
                </a:solidFill>
                <a:latin typeface="Inter"/>
              </a:defRPr>
            </a:pPr>
            <a:r>
              <a:t>Setelah satu item diproses, antrean langsung</a:t>
            </a:r>
          </a:p>
          <a:p>
            <a:pPr algn="l">
              <a:lnSpc>
                <a:spcPct val="130000"/>
              </a:lnSpc>
              <a:defRPr sz="1300" b="0">
                <a:solidFill>
                  <a:srgbClr val="1668DC"/>
                </a:solidFill>
                <a:latin typeface="Inter"/>
              </a:defRPr>
            </a:pPr>
            <a:r>
              <a:t>menampilkan item berikutnya.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WIZARD PENDAFTARAN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Enam tahap, satu per satu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3A4A66"/>
                </a:solidFill>
                <a:latin typeface="Inter"/>
              </a:defRPr>
            </a:pPr>
            <a:r>
              <a:t>Form panjang dipecah agar tidak melelahkan</a:t>
            </a:r>
          </a:p>
        </p:txBody>
      </p:sp>
      <p:pic>
        <p:nvPicPr>
          <p:cNvPr id="5" name="Picture 4" descr="17-registration-wiz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00"/>
            <a:ext cx="5669280" cy="35433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52160" y="1828800"/>
            <a:ext cx="5669280" cy="3543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5134356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Wizard bertahap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4937760" cy="4572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39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305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B3375"/>
                </a:solidFill>
                <a:latin typeface="Inter"/>
              </a:defRPr>
            </a:pPr>
            <a:r>
              <a:t>Akun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78608"/>
            <a:ext cx="4937760" cy="4572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0662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9748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B3375"/>
                </a:solidFill>
                <a:latin typeface="Inter"/>
              </a:defRPr>
            </a:pPr>
            <a:r>
              <a:t>Pribadi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45536"/>
            <a:ext cx="4937760" cy="4572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7355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6440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B3375"/>
                </a:solidFill>
                <a:latin typeface="Inter"/>
              </a:defRPr>
            </a:pPr>
            <a:r>
              <a:t>Orang Tua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12464"/>
            <a:ext cx="4937760" cy="4572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404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83133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B3375"/>
                </a:solidFill>
                <a:latin typeface="Inter"/>
              </a:defRPr>
            </a:pPr>
            <a:r>
              <a:t>Pendidikan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79392"/>
            <a:ext cx="4937760" cy="4572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074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39826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B3375"/>
                </a:solidFill>
                <a:latin typeface="Inter"/>
              </a:defRPr>
            </a:pPr>
            <a:r>
              <a:t>Dokumen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46320"/>
            <a:ext cx="4937760" cy="4572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7433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96519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B3375"/>
                </a:solidFill>
                <a:latin typeface="Inter"/>
              </a:defRPr>
            </a:pPr>
            <a: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86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7A88A0"/>
                </a:solidFill>
                <a:latin typeface="Inter"/>
              </a:defRPr>
            </a:pPr>
            <a:r>
              <a:t>Kelengkapan dihitung otomatis; submit ditolak</a:t>
            </a:r>
          </a:p>
          <a:p>
            <a:pPr algn="l">
              <a:lnSpc>
                <a:spcPct val="130000"/>
              </a:lnSpc>
              <a:defRPr sz="1200" b="0">
                <a:solidFill>
                  <a:srgbClr val="7A88A0"/>
                </a:solidFill>
                <a:latin typeface="Inter"/>
              </a:defRPr>
            </a:pPr>
            <a:r>
              <a:t>apabila data belum lengkap.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DOKUMEN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Status berkas yang jelas bagi siswa</a:t>
            </a:r>
          </a:p>
        </p:txBody>
      </p:sp>
      <p:pic>
        <p:nvPicPr>
          <p:cNvPr id="4" name="Picture 3" descr="18-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669280" cy="35433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52160" y="1371600"/>
            <a:ext cx="5669280" cy="3543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4677156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Manajemen dokumen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Jenis MIME dan ukuran divalidasi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Status: belum diunggah, valid, perlu revisi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Berkas tidak pernah masuk version control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Akses unduhan melewati pemeriksaan izin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RUANG VERIFIKASI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Antrean yang bekerja untuk Anda</a:t>
            </a:r>
          </a:p>
        </p:txBody>
      </p:sp>
      <p:pic>
        <p:nvPicPr>
          <p:cNvPr id="4" name="Picture 3" descr="11-verification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71600"/>
            <a:ext cx="7040880" cy="44005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480560" y="1371600"/>
            <a:ext cx="7040880" cy="44005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5534406"/>
            <a:ext cx="7040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Antrean verifikasi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566160" cy="1901952"/>
          </a:xfrm>
          <a:prstGeom prst="roundRect">
            <a:avLst>
              <a:gd name="adj" fmla="val 4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Empat metrik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128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0B3375"/>
                </a:solidFill>
                <a:latin typeface="Inter"/>
              </a:defRPr>
            </a:pPr>
            <a:r>
              <a:t>Antrean pending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968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96896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0B3375"/>
                </a:solidFill>
                <a:latin typeface="Inter"/>
              </a:defRPr>
            </a:pPr>
            <a:r>
              <a:t>Perlu perbaikan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809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80944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0B3375"/>
                </a:solidFill>
                <a:latin typeface="Inter"/>
              </a:defRPr>
            </a:pPr>
            <a:r>
              <a:t>Selesai hari 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649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6499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0B3375"/>
                </a:solidFill>
                <a:latin typeface="Inter"/>
              </a:defRPr>
            </a:pPr>
            <a:r>
              <a:t>Terlama menunggu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356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300" b="0">
                <a:solidFill>
                  <a:srgbClr val="3A4A66"/>
                </a:solidFill>
                <a:latin typeface="Inter"/>
              </a:defRPr>
            </a:pPr>
            <a:r>
              <a:t>Dashboard verifikator adalah</a:t>
            </a:r>
          </a:p>
          <a:p>
            <a:pPr algn="l">
              <a:lnSpc>
                <a:spcPct val="135000"/>
              </a:lnSpc>
              <a:defRPr sz="1300" b="0">
                <a:solidFill>
                  <a:srgbClr val="3A4A66"/>
                </a:solidFill>
                <a:latin typeface="Inter"/>
              </a:defRPr>
            </a:pPr>
            <a:r>
              <a:t>antreannya sendiri — bukan</a:t>
            </a:r>
          </a:p>
          <a:p>
            <a:pPr algn="l">
              <a:lnSpc>
                <a:spcPct val="135000"/>
              </a:lnSpc>
              <a:defRPr sz="1300" b="0">
                <a:solidFill>
                  <a:srgbClr val="3A4A66"/>
                </a:solidFill>
                <a:latin typeface="Inter"/>
              </a:defRPr>
            </a:pPr>
            <a:r>
              <a:t>laporan dengan grafik.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DATA SISWA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Cari, lihat, dan perbarui</a:t>
            </a:r>
          </a:p>
        </p:txBody>
      </p:sp>
      <p:pic>
        <p:nvPicPr>
          <p:cNvPr id="4" name="Picture 3" descr="04-student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71600"/>
            <a:ext cx="7040880" cy="44005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480560" y="1371600"/>
            <a:ext cx="7040880" cy="44005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5534406"/>
            <a:ext cx="7040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Daftar siswa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Pencarian dan filter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Detail siswa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Ekspor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Data lengkap per siswa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KELAS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Rombel yang terikat pada tahun ajaran</a:t>
            </a:r>
          </a:p>
        </p:txBody>
      </p:sp>
      <p:pic>
        <p:nvPicPr>
          <p:cNvPr id="4" name="Picture 3" descr="13-class-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71600"/>
            <a:ext cx="7040880" cy="44005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480560" y="1371600"/>
            <a:ext cx="7040880" cy="44005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5534406"/>
            <a:ext cx="7040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Ruang kerja kelas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566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Kode, tingkat, jurusan, kapasitas, ruang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Status: aktif, tidak aktif, diarsipkan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Siswa · absensi · orang tua · pengumuman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Arsipkan tanpa menghapus riwayat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ARSITEKTUR ENROLLMENT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Satu identitas, banyak konteks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3A4A66"/>
                </a:solidFill>
                <a:latin typeface="Inter"/>
              </a:defRPr>
            </a:pPr>
            <a:r>
              <a:t>Keputusan yang membedakan sistem ini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7432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66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743200" cy="109728"/>
          </a:xfrm>
          <a:prstGeom prst="roundRect">
            <a:avLst>
              <a:gd name="adj" fmla="val 4000"/>
            </a:avLst>
          </a:prstGeom>
          <a:solidFill>
            <a:srgbClr val="166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128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1668DC"/>
                </a:solidFill>
                <a:latin typeface="Inter"/>
              </a:defRPr>
            </a:pPr>
            <a:r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Satu orang</a:t>
            </a:r>
          </a:p>
          <a:p>
            <a:pPr algn="ctr">
              <a:lnSpc>
                <a:spcPct val="13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seumur hidup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3774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2400" b="0">
                <a:solidFill>
                  <a:srgbClr val="7A88A0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828800"/>
            <a:ext cx="27432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5C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1828800"/>
            <a:ext cx="2743200" cy="109728"/>
          </a:xfrm>
          <a:prstGeom prst="roundRect">
            <a:avLst>
              <a:gd name="adj" fmla="val 4000"/>
            </a:avLst>
          </a:prstGeom>
          <a:solidFill>
            <a:srgbClr val="35C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2128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35C6F3"/>
                </a:solidFill>
                <a:latin typeface="Inter"/>
              </a:defRPr>
            </a:pPr>
            <a:r>
              <a:t>ENROLLMENT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60604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Satu baris per</a:t>
            </a:r>
          </a:p>
          <a:p>
            <a:pPr algn="ctr">
              <a:lnSpc>
                <a:spcPct val="13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tahun ajaran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3774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2400" b="0">
                <a:solidFill>
                  <a:srgbClr val="7A88A0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28800"/>
            <a:ext cx="27432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F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06640" y="1828800"/>
            <a:ext cx="2743200" cy="109728"/>
          </a:xfrm>
          <a:prstGeom prst="roundRect">
            <a:avLst>
              <a:gd name="adj" fmla="val 4000"/>
            </a:avLst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2128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0F9B7A"/>
                </a:solidFill>
                <a:latin typeface="Inter"/>
              </a:defRPr>
            </a:pPr>
            <a:r>
              <a:t>CLASSROOM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60604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Rombel pada</a:t>
            </a:r>
          </a:p>
          <a:p>
            <a:pPr algn="ctr">
              <a:lnSpc>
                <a:spcPct val="13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satu tahun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40480"/>
            <a:ext cx="10881360" cy="105156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4164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400" b="0">
                <a:solidFill>
                  <a:srgbClr val="0B3375"/>
                </a:solidFill>
                <a:latin typeface="Inter"/>
              </a:defRPr>
            </a:pPr>
            <a:r>
              <a:t>Naik kelas tidak menimpa apa pun. Enrollment lama ditutup dengan status promoted,</a:t>
            </a:r>
          </a:p>
          <a:p>
            <a:pPr algn="l">
              <a:lnSpc>
                <a:spcPct val="135000"/>
              </a:lnSpc>
              <a:defRPr sz="1400" b="0">
                <a:solidFill>
                  <a:srgbClr val="0B3375"/>
                </a:solidFill>
                <a:latin typeface="Inter"/>
              </a:defRPr>
            </a:pPr>
            <a:r>
              <a:t>kemudian enrollment baru dibuat untuk tahun ajaran berikutnya.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7A88A0"/>
                </a:solidFill>
                <a:latin typeface="Inter"/>
              </a:defRPr>
            </a:pPr>
            <a:r>
              <a:t>Kolom class_id yang lama dipertahankan sebagai cermin kompatibilitas — bukan sumber kebenaran.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WALI KELAS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Kelas yang ditugaskan, bukan peran tambahan</a:t>
            </a:r>
          </a:p>
        </p:txBody>
      </p:sp>
      <p:pic>
        <p:nvPicPr>
          <p:cNvPr id="4" name="Picture 3" descr="12-kelas-sa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71600"/>
            <a:ext cx="7040880" cy="44005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480560" y="1371600"/>
            <a:ext cx="7040880" cy="44005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5534406"/>
            <a:ext cx="7040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Kelas Saya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668DC"/>
                </a:solidFill>
                <a:latin typeface="Inter"/>
              </a:defRPr>
            </a:pPr>
            <a:r>
              <a:t>Wali kelas adalah penugasan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5661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Satu guru, banyak kelas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Bisa berganti kelas tiap tahun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Riwayat penugasan tersimpan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Akses hanya kelas sendiri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72000"/>
            <a:ext cx="3566160" cy="822960"/>
          </a:xfrm>
          <a:prstGeom prst="roundRect">
            <a:avLst>
              <a:gd name="adj" fmla="val 4000"/>
            </a:avLst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7365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FFFFFF"/>
                </a:solidFill>
                <a:latin typeface="Inter"/>
              </a:defRPr>
            </a:pPr>
            <a:r>
              <a:t>Kelas milik orang lain → 403,</a:t>
            </a:r>
          </a:p>
          <a:p>
            <a:pPr algn="l">
              <a:lnSpc>
                <a:spcPct val="130000"/>
              </a:lnSpc>
              <a:defRPr sz="1200" b="0">
                <a:solidFill>
                  <a:srgbClr val="FFFFFF"/>
                </a:solidFill>
                <a:latin typeface="Inter"/>
              </a:defRPr>
            </a:pPr>
            <a:r>
              <a:t>walau URL-nya diubah.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ABSENSI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Tugas harian yang dikerjakan dari ponsel</a:t>
            </a:r>
          </a:p>
        </p:txBody>
      </p:sp>
      <p:pic>
        <p:nvPicPr>
          <p:cNvPr id="4" name="Picture 3" descr="14-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486400" cy="3429000"/>
          </a:xfrm>
          <a:prstGeom prst="rect">
            <a:avLst/>
          </a:prstGeom>
        </p:spPr>
      </p:pic>
      <p:pic>
        <p:nvPicPr>
          <p:cNvPr id="5" name="Picture 4" descr="rp-atten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71600"/>
            <a:ext cx="1828800" cy="395771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371600"/>
            <a:ext cx="54864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62856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Desktop 1440 × 900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1828800" cy="39577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5091566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Mobile 390 × 844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5544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Catatan penting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965960"/>
            <a:ext cx="29260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200">
                <a:solidFill>
                  <a:srgbClr val="3A4A66"/>
                </a:solidFill>
                <a:latin typeface="Inter"/>
              </a:defRPr>
            </a:pPr>
            <a:r>
              <a:t>— Tidak ada siswa otomatis hadir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200">
                <a:solidFill>
                  <a:srgbClr val="3A4A66"/>
                </a:solidFill>
                <a:latin typeface="Inter"/>
              </a:defRPr>
            </a:pPr>
            <a:r>
              <a:t>— Koreksi menyimpan status lama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200">
                <a:solidFill>
                  <a:srgbClr val="3A4A66"/>
                </a:solidFill>
                <a:latin typeface="Inter"/>
              </a:defRPr>
            </a:pPr>
            <a:r>
              <a:t>— Sesi dapat dikunci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200">
                <a:solidFill>
                  <a:srgbClr val="3A4A66"/>
                </a:solidFill>
                <a:latin typeface="Inter"/>
              </a:defRPr>
            </a:pPr>
            <a:r>
              <a:t>— Tombol status dua baris di ponsel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ORANG TUA / WALI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Hubungan yang terpisah dari peran internal</a:t>
            </a:r>
          </a:p>
        </p:txBody>
      </p:sp>
      <p:pic>
        <p:nvPicPr>
          <p:cNvPr id="4" name="Picture 3" descr="20-paren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71600"/>
            <a:ext cx="7040880" cy="44005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480560" y="1371600"/>
            <a:ext cx="7040880" cy="44005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5534406"/>
            <a:ext cx="7040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Anak saya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566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Satu orang tua, beberapa anak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Satu anak, beberapa wali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Anak lain → 404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Nilai draf tidak pernah tampil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7A88A0"/>
                </a:solidFill>
                <a:latin typeface="Inter"/>
              </a:defRPr>
            </a:pPr>
            <a:r>
              <a:t>Orang tua ditentukan oleh relasi</a:t>
            </a:r>
          </a:p>
          <a:p>
            <a:pPr algn="l">
              <a:lnSpc>
                <a:spcPct val="130000"/>
              </a:lnSpc>
              <a:defRPr sz="1200" b="0">
                <a:solidFill>
                  <a:srgbClr val="7A88A0"/>
                </a:solidFill>
                <a:latin typeface="Inter"/>
              </a:defRPr>
            </a:pPr>
            <a:r>
              <a:t>guardian_relationships, bukan role.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AKADEMIK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Nilai yang terikat pada konteks 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668DC"/>
                </a:solidFill>
                <a:latin typeface="Inter"/>
              </a:defRPr>
            </a:pPr>
            <a:r>
              <a:t>Nilai bukan milik siswa secara langsung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Nilai menempel pada enrollment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Satu nilai per mata pelajaran per semester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Status draft atau published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Hanya published yang tampil ke siswa dan orang tua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97680"/>
            <a:ext cx="4937760" cy="914400"/>
          </a:xfrm>
          <a:prstGeom prst="roundRect">
            <a:avLst>
              <a:gd name="adj" fmla="val 4000"/>
            </a:avLst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48056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FFFFFF"/>
                </a:solidFill>
                <a:latin typeface="Inter"/>
              </a:defRPr>
            </a:pPr>
            <a:r>
              <a:t>Penyaringan draft dilakukan di query,</a:t>
            </a:r>
          </a:p>
          <a:p>
            <a:pPr algn="l">
              <a:lnSpc>
                <a:spcPct val="130000"/>
              </a:lnSpc>
              <a:defRPr sz="1200" b="0">
                <a:solidFill>
                  <a:srgbClr val="FFFFFF"/>
                </a:solidFill>
                <a:latin typeface="Inter"/>
              </a:defRPr>
            </a:pPr>
            <a:r>
              <a:t>bukan di template — tidak bisa</a:t>
            </a:r>
          </a:p>
          <a:p>
            <a:pPr algn="l">
              <a:lnSpc>
                <a:spcPct val="130000"/>
              </a:lnSpc>
              <a:defRPr sz="1200" b="0">
                <a:solidFill>
                  <a:srgbClr val="FFFFFF"/>
                </a:solidFill>
                <a:latin typeface="Inter"/>
              </a:defRPr>
            </a:pPr>
            <a:r>
              <a:t>terlewat karena salah ketik.</a:t>
            </a:r>
          </a:p>
        </p:txBody>
      </p:sp>
      <p:pic>
        <p:nvPicPr>
          <p:cNvPr id="8" name="Picture 7" descr="08-stat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577840" cy="34861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0" y="1371600"/>
            <a:ext cx="5577840" cy="34861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4620006"/>
            <a:ext cx="5577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Statistik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KENAIKAN KELAS &amp; KELULUSAN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Status tersedia, alur belum utuh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3A4A66"/>
                </a:solidFill>
                <a:latin typeface="Inter"/>
              </a:defRPr>
            </a:pPr>
            <a:r>
              <a:t>Bagian ini ditandai PARTIAL dan sengaja dijelaskan apa adanya</a:t>
            </a:r>
          </a:p>
        </p:txBody>
      </p:sp>
      <p:pic>
        <p:nvPicPr>
          <p:cNvPr id="5" name="Picture 4" descr="student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972654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922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7A88A0"/>
                </a:solidFill>
                <a:latin typeface="Inter"/>
              </a:defRPr>
            </a:pPr>
            <a:r>
              <a:t>Status enrollment dan tabel alumni sudah ada; pratinjau kenaikan dan proses massal belum dikirim.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IMPOR EXCEL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Antarmuka tersedia, pemetaan belum lengkap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3A4A66"/>
                </a:solidFill>
                <a:latin typeface="Inter"/>
              </a:defRPr>
            </a:pPr>
            <a:r>
              <a:t>Status PARTIAL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12080" cy="32918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F9B7A"/>
                </a:solidFill>
                <a:latin typeface="Inter"/>
              </a:defRPr>
            </a:pPr>
            <a:r>
              <a:t>Yang sudah 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6634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3A4A66"/>
                </a:solidFill>
                <a:latin typeface="Inter"/>
              </a:defRPr>
            </a:pPr>
            <a:r>
              <a:t>— Unggah berkas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3A4A66"/>
                </a:solidFill>
                <a:latin typeface="Inter"/>
              </a:defRPr>
            </a:pPr>
            <a:r>
              <a:t>— Pratinjau data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3A4A66"/>
                </a:solidFill>
                <a:latin typeface="Inter"/>
              </a:defRPr>
            </a:pPr>
            <a:r>
              <a:t>— Pelaporan hasil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212080" cy="32918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B45309"/>
                </a:solidFill>
                <a:latin typeface="Inter"/>
              </a:defRPr>
            </a:pPr>
            <a:r>
              <a:t>Yang belum 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6634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3A4A66"/>
                </a:solidFill>
                <a:latin typeface="Inter"/>
              </a:defRPr>
            </a:pPr>
            <a:r>
              <a:t>— Pemetaan kolom ke enrollment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3A4A66"/>
                </a:solidFill>
                <a:latin typeface="Inter"/>
              </a:defRPr>
            </a:pPr>
            <a:r>
              <a:t>— Validasi konflik enrollment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3A4A66"/>
                </a:solidFill>
                <a:latin typeface="Inter"/>
              </a:defRPr>
            </a:pPr>
            <a:r>
              <a:t>— Pratinjau bentrok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7A88A0"/>
                </a:solidFill>
                <a:latin typeface="Inter"/>
              </a:defRPr>
            </a:pPr>
            <a:r>
              <a:t>Data tidak pernah ditimpa diam-diam saat impor — itu syarat yang belum terpenuhi.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REPORT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Laporan berdasarkan filter</a:t>
            </a:r>
          </a:p>
        </p:txBody>
      </p:sp>
      <p:pic>
        <p:nvPicPr>
          <p:cNvPr id="4" name="Picture 3" descr="05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71600"/>
            <a:ext cx="7040880" cy="44005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480560" y="1371600"/>
            <a:ext cx="7040880" cy="44005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5534406"/>
            <a:ext cx="7040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Buat laporan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5661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Filter tahun ajaran dan kelas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Ekspor Excel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Ekspor CSV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Ekspor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STATISTIK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Angka yang bisa ditindaklanjuti</a:t>
            </a:r>
          </a:p>
        </p:txBody>
      </p:sp>
      <p:pic>
        <p:nvPicPr>
          <p:cNvPr id="4" name="Picture 3" descr="06-kesiswaa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71600"/>
            <a:ext cx="7040880" cy="44005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480560" y="1371600"/>
            <a:ext cx="7040880" cy="44005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5534406"/>
            <a:ext cx="7040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Dashboard kesiswaan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566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Siswa belum ditempatkan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Data belum lengkap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Sebaran per tingkat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>
                <a:solidFill>
                  <a:srgbClr val="3A4A66"/>
                </a:solidFill>
                <a:latin typeface="Inter"/>
              </a:defRPr>
            </a:pPr>
            <a:r>
              <a:t>— Sebaran per jurusan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7A88A0"/>
                </a:solidFill>
                <a:latin typeface="Inter"/>
              </a:defRPr>
            </a:pPr>
            <a:r>
              <a:t>Tidak ada statistik yang</a:t>
            </a:r>
          </a:p>
          <a:p>
            <a:pPr algn="l">
              <a:lnSpc>
                <a:spcPct val="130000"/>
              </a:lnSpc>
              <a:defRPr sz="1200" b="0">
                <a:solidFill>
                  <a:srgbClr val="7A88A0"/>
                </a:solidFill>
                <a:latin typeface="Inter"/>
              </a:defRPr>
            </a:pPr>
            <a:r>
              <a:t>dipalsukan untuk mengisi</a:t>
            </a:r>
          </a:p>
          <a:p>
            <a:pPr algn="l">
              <a:lnSpc>
                <a:spcPct val="130000"/>
              </a:lnSpc>
              <a:defRPr sz="1200" b="0">
                <a:solidFill>
                  <a:srgbClr val="7A88A0"/>
                </a:solidFill>
                <a:latin typeface="Inter"/>
              </a:defRPr>
            </a:pPr>
            <a:r>
              <a:t>tampilan.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PENCARIAN &amp; NOTIFIKASI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Menemukan kembali informasi</a:t>
            </a:r>
          </a:p>
        </p:txBody>
      </p:sp>
      <p:pic>
        <p:nvPicPr>
          <p:cNvPr id="4" name="Picture 3" descr="23-activity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212080" cy="32575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371600"/>
            <a:ext cx="5212080" cy="32575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391406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Log aktivitas</a:t>
            </a:r>
          </a:p>
        </p:txBody>
      </p:sp>
      <p:pic>
        <p:nvPicPr>
          <p:cNvPr id="7" name="Picture 6" descr="19-registration-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212080" cy="32575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371600"/>
            <a:ext cx="5212080" cy="32575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391406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Status notifikasi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7A88A0"/>
                </a:solidFill>
                <a:latin typeface="Inter"/>
              </a:defRPr>
            </a:pPr>
            <a:r>
              <a:t>Pencarian global dan pusat notifikasi berjalan; keduanya masih dalam tahap awal.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MANAJEMEN PENGGUNA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Akun internal dan hak aksesnya</a:t>
            </a:r>
          </a:p>
        </p:txBody>
      </p:sp>
      <p:pic>
        <p:nvPicPr>
          <p:cNvPr id="4" name="Picture 3" descr="21-user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71600"/>
            <a:ext cx="7040880" cy="44005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480560" y="1371600"/>
            <a:ext cx="7040880" cy="44005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5534406"/>
            <a:ext cx="7040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Manajemen pengguna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5661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3A4A66"/>
                </a:solidFill>
                <a:latin typeface="Inter"/>
              </a:defRPr>
            </a:pPr>
            <a:r>
              <a:t>— Buat, ubah, nonaktifkan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3A4A66"/>
                </a:solidFill>
                <a:latin typeface="Inter"/>
              </a:defRPr>
            </a:pPr>
            <a:r>
              <a:t>— Akun nonaktif langsung ditolak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3A4A66"/>
                </a:solidFill>
                <a:latin typeface="Inter"/>
              </a:defRPr>
            </a:pPr>
            <a:r>
              <a:t>— Super Admin terakhir dilindungi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3A4A66"/>
                </a:solidFill>
                <a:latin typeface="Inter"/>
              </a:defRPr>
            </a:pPr>
            <a:r>
              <a:t>— Hanya Super Admin menetapkan super_admin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ROLE &amp; PERMISSION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85 izin dalam 7 peran</a:t>
            </a:r>
          </a:p>
        </p:txBody>
      </p:sp>
      <p:pic>
        <p:nvPicPr>
          <p:cNvPr id="4" name="Picture 3" descr="22-role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71600"/>
            <a:ext cx="7040880" cy="44005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480560" y="1371600"/>
            <a:ext cx="7040880" cy="44005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5534406"/>
            <a:ext cx="7040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Matriks permission</a:t>
            </a:r>
          </a:p>
        </p:txBody>
      </p:sp>
      <p:pic>
        <p:nvPicPr>
          <p:cNvPr id="7" name="Picture 6" descr="rb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3170519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590288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Izin bukan satu-satunya.</a:t>
            </a:r>
          </a:p>
          <a:p>
            <a:pPr algn="l">
              <a:lnSpc>
                <a:spcPct val="13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Cakupan dan penugasan menentukan</a:t>
            </a:r>
          </a:p>
          <a:p>
            <a:pPr algn="l">
              <a:lnSpc>
                <a:spcPct val="13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juga apa yang boleh dibuka.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KUSTOMISASI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Sekolah dapat menandai sistemnya sendiri</a:t>
            </a:r>
          </a:p>
        </p:txBody>
      </p:sp>
      <p:pic>
        <p:nvPicPr>
          <p:cNvPr id="4" name="Picture 3" descr="24-school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212080" cy="32575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371600"/>
            <a:ext cx="5212080" cy="32575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391406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Profil sekolah</a:t>
            </a:r>
          </a:p>
        </p:txBody>
      </p:sp>
      <p:pic>
        <p:nvPicPr>
          <p:cNvPr id="7" name="Picture 6" descr="25-br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212080" cy="32575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371600"/>
            <a:ext cx="5212080" cy="32575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391406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Tampilan &amp; branding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7A88A0"/>
                </a:solidFill>
                <a:latin typeface="Inter"/>
              </a:defRPr>
            </a:pPr>
            <a:r>
              <a:t>Warna, logo, dan favicon dapat diubah; perubahan langsung terlihat di seluruh aplikasi.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DESAIN RESPONSIF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Satu sistem, tiga permukaan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3A4A66"/>
                </a:solidFill>
                <a:latin typeface="Inter"/>
              </a:defRPr>
            </a:pPr>
            <a:r>
              <a:t>Navigasi berubah sesuai peran dan ukuran layar</a:t>
            </a:r>
          </a:p>
        </p:txBody>
      </p:sp>
      <p:pic>
        <p:nvPicPr>
          <p:cNvPr id="5" name="Picture 4" descr="02-super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383280" cy="2114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828800"/>
            <a:ext cx="3383280" cy="21145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05606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Desktop · 1440 × 900</a:t>
            </a:r>
          </a:p>
        </p:txBody>
      </p:sp>
      <p:pic>
        <p:nvPicPr>
          <p:cNvPr id="8" name="Picture 7" descr="tb-kesiswaan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828800"/>
            <a:ext cx="2286000" cy="3048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43400" y="1828800"/>
            <a:ext cx="2286000" cy="304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4639056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Tablet · 768 × 1024</a:t>
            </a:r>
          </a:p>
        </p:txBody>
      </p:sp>
      <p:pic>
        <p:nvPicPr>
          <p:cNvPr id="11" name="Picture 10" descr="rp-student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828800"/>
            <a:ext cx="1234440" cy="267145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49440" y="1828800"/>
            <a:ext cx="1234440" cy="267145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4262510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Mobile · 390 × 844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Sidebar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892040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≥ 1024px, dapat diciutkan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7608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Drawer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276088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768–1023px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6013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Bottom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660136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&lt; 768px, maksimal 5 slot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441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668DC"/>
                </a:solidFill>
                <a:latin typeface="Inter"/>
              </a:defRPr>
            </a:pPr>
            <a:r>
              <a:t>Tabel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6044184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Berubah menjadi kartu di layar sempit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PWA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Dapat dipasang di ponsel, jujur soal luring</a:t>
            </a:r>
          </a:p>
        </p:txBody>
      </p:sp>
      <p:pic>
        <p:nvPicPr>
          <p:cNvPr id="4" name="Picture 3" descr="rp-kelas-sa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207040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371600"/>
            <a:ext cx="219456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5614416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Mobile · Kelas Saya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3A4A66"/>
                </a:solidFill>
                <a:latin typeface="Inter"/>
              </a:defRPr>
            </a:pPr>
            <a:r>
              <a:t>— Manifest dan service worker dari build Vite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3A4A66"/>
                </a:solidFill>
                <a:latin typeface="Inter"/>
              </a:defRPr>
            </a:pPr>
            <a:r>
              <a:t>— Dapat dipasang ke layar utama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3A4A66"/>
                </a:solidFill>
                <a:latin typeface="Inter"/>
              </a:defRPr>
            </a:pPr>
            <a:r>
              <a:t>— Aset aplikasi dicache untuk akses offline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3A4A66"/>
                </a:solidFill>
                <a:latin typeface="Inter"/>
              </a:defRPr>
            </a:pPr>
            <a:r>
              <a:t>— HTML terautentikasi TIDAK pernah dicache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80560"/>
            <a:ext cx="10881360" cy="914400"/>
          </a:xfrm>
          <a:prstGeom prst="roundRect">
            <a:avLst>
              <a:gd name="adj" fmla="val 4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1668DC"/>
                </a:solidFill>
                <a:latin typeface="Inter"/>
              </a:defRPr>
            </a:pPr>
            <a:r>
              <a:t>Data siswa tidak boleh tampil sebagai data terkini ketika sedang luring.</a:t>
            </a:r>
          </a:p>
          <a:p>
            <a:pPr algn="l">
              <a:lnSpc>
                <a:spcPct val="130000"/>
              </a:lnSpc>
              <a:defRPr sz="1300" b="0">
                <a:solidFill>
                  <a:srgbClr val="1668DC"/>
                </a:solidFill>
                <a:latin typeface="Inter"/>
              </a:defRPr>
            </a:pPr>
            <a:r>
              <a:t>Karena itu service worker hanya menyimpan aset — bukan isi halaman.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KEAMANAN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Yang diuji, bukan yang diklaim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713232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8132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B3375"/>
                </a:solidFill>
                <a:latin typeface="Inter"/>
              </a:defRPr>
            </a:pPr>
            <a:r>
              <a:t>Otorisasi server-side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5564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Setiap route dijaga middleware izin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12080" cy="713232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148132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B3375"/>
                </a:solidFill>
                <a:latin typeface="Inter"/>
              </a:defRPr>
            </a:pPr>
            <a:r>
              <a:t>Tiga lapis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75564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Izin · cakupan · penugasan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713232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3500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B3375"/>
                </a:solidFill>
                <a:latin typeface="Inter"/>
              </a:defRPr>
            </a:pPr>
            <a:r>
              <a:t>Cakupan kelas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62432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Kelas orang lain menghasilkan 403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40280"/>
            <a:ext cx="5212080" cy="713232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3500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B3375"/>
                </a:solidFill>
                <a:latin typeface="Inter"/>
              </a:defRPr>
            </a:pPr>
            <a:r>
              <a:t>Cakupan orang tua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62432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Anak tidak tertaut menghasilkan 404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08960"/>
            <a:ext cx="5212080" cy="713232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21868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B3375"/>
                </a:solidFill>
                <a:latin typeface="Inter"/>
              </a:defRPr>
            </a:pPr>
            <a:r>
              <a:t>Nilai draf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4930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Disaring di query, tidak pernah tampil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108960"/>
            <a:ext cx="5212080" cy="713232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21868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B3375"/>
                </a:solidFill>
                <a:latin typeface="Inter"/>
              </a:defRPr>
            </a:pPr>
            <a:r>
              <a:t>Pesan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4930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Tanpa stack trace di produksi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77640"/>
            <a:ext cx="5212080" cy="713232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08736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B3375"/>
                </a:solidFill>
                <a:latin typeface="Inter"/>
              </a:defRPr>
            </a:pPr>
            <a:r>
              <a:t>Audit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36168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Keputusan penting tercatat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77640"/>
            <a:ext cx="5212080" cy="713232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408736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0B3375"/>
                </a:solidFill>
                <a:latin typeface="Inter"/>
              </a:defRPr>
            </a:pPr>
            <a:r>
              <a:t>Rahasia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36168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Tidak pernah masuk version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95 tabel, ERD dari skema nyata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3A4A66"/>
                </a:solidFill>
                <a:latin typeface="Inter"/>
              </a:defRPr>
            </a:pPr>
            <a:r>
              <a:t>Diagram dihasilkan langsung dari information_schema</a:t>
            </a:r>
          </a:p>
        </p:txBody>
      </p:sp>
      <p:pic>
        <p:nvPicPr>
          <p:cNvPr id="5" name="Picture 4" descr="database-erd-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828800"/>
            <a:ext cx="3875346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922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ERD penuh (95 tabel) tersedia sebagai diagrams/database-erd.png; di sini ditampilkan model intinya.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GitHub → Wasmer → MySQL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66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1668DC"/>
                </a:solidFill>
                <a:latin typeface="Inter"/>
              </a:defRPr>
            </a:pPr>
            <a:r>
              <a:t>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3A4A66"/>
                </a:solidFill>
                <a:latin typeface="Inter"/>
              </a:defRPr>
            </a:pPr>
            <a:r>
              <a:t>main branch</a:t>
            </a:r>
          </a:p>
          <a:p>
            <a:pPr algn="ctr">
              <a:lnSpc>
                <a:spcPct val="130000"/>
              </a:lnSpc>
              <a:defRPr sz="1100" b="0">
                <a:solidFill>
                  <a:srgbClr val="3A4A66"/>
                </a:solidFill>
                <a:latin typeface="Inter"/>
              </a:defRPr>
            </a:pPr>
            <a:r>
              <a:t>CI: test +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82880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2200" b="0">
                <a:solidFill>
                  <a:srgbClr val="7A88A0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66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6459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1668DC"/>
                </a:solidFill>
                <a:latin typeface="Inter"/>
              </a:defRPr>
            </a:pPr>
            <a:r>
              <a:t>Wasmer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05740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3A4A66"/>
                </a:solidFill>
                <a:latin typeface="Inter"/>
              </a:defRPr>
            </a:pPr>
            <a:r>
              <a:t>Build container</a:t>
            </a:r>
          </a:p>
          <a:p>
            <a:pPr algn="ctr">
              <a:lnSpc>
                <a:spcPct val="130000"/>
              </a:lnSpc>
              <a:defRPr sz="1100" b="0">
                <a:solidFill>
                  <a:srgbClr val="3A4A66"/>
                </a:solidFill>
                <a:latin typeface="Inter"/>
              </a:defRPr>
            </a:pPr>
            <a:r>
              <a:t>Build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182880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2200" b="0">
                <a:solidFill>
                  <a:srgbClr val="7A88A0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66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6459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1668DC"/>
                </a:solidFill>
                <a:latin typeface="Inter"/>
              </a:defRPr>
            </a:pPr>
            <a:r>
              <a:t>Laravel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3A4A66"/>
                </a:solidFill>
                <a:latin typeface="Inter"/>
              </a:defRPr>
            </a:pPr>
            <a:r>
              <a:t>config:clear → migrate</a:t>
            </a:r>
          </a:p>
          <a:p>
            <a:pPr algn="ctr">
              <a:lnSpc>
                <a:spcPct val="130000"/>
              </a:lnSpc>
              <a:defRPr sz="1100" b="0">
                <a:solidFill>
                  <a:srgbClr val="3A4A66"/>
                </a:solidFill>
                <a:latin typeface="Inter"/>
              </a:defRPr>
            </a:pPr>
            <a:r>
              <a:t>→ config:cache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82880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2200" b="0">
                <a:solidFill>
                  <a:srgbClr val="7A88A0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37160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66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6459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500" b="1">
                <a:solidFill>
                  <a:srgbClr val="1668DC"/>
                </a:solidFill>
                <a:latin typeface="Inter"/>
              </a:defRPr>
            </a:pPr>
            <a:r>
              <a:t>MySQL 8.4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05740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3A4A66"/>
                </a:solidFill>
                <a:latin typeface="Inter"/>
              </a:defRPr>
            </a:pPr>
            <a:r>
              <a:t>Variabel DB_</a:t>
            </a:r>
          </a:p>
          <a:p>
            <a:pPr algn="ctr">
              <a:lnSpc>
                <a:spcPct val="130000"/>
              </a:lnSpc>
              <a:defRPr sz="1100" b="0">
                <a:solidFill>
                  <a:srgbClr val="3A4A66"/>
                </a:solidFill>
                <a:latin typeface="Inter"/>
              </a:defRPr>
            </a:pPr>
            <a:r>
              <a:t>diinjeksi platform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00400"/>
            <a:ext cx="10881360" cy="14630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38328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B45309"/>
                </a:solidFill>
                <a:latin typeface="Inter"/>
              </a:defRPr>
            </a:pPr>
            <a:r>
              <a:t>Dua hal yang paling sering salah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67328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  <a:defRPr sz="1200">
                <a:solidFill>
                  <a:srgbClr val="3A4A66"/>
                </a:solidFill>
                <a:latin typeface="Inter"/>
              </a:defRPr>
            </a:pPr>
            <a:r>
              <a:t>— config:clear harus sebelum config:cache, kalau tidak konfigurasi lama membeku</a:t>
            </a:r>
          </a:p>
          <a:p>
            <a:pPr>
              <a:lnSpc>
                <a:spcPct val="125000"/>
              </a:lnSpc>
              <a:spcAft>
                <a:spcPts val="400"/>
              </a:spcAft>
              <a:defRPr sz="1200">
                <a:solidFill>
                  <a:srgbClr val="3A4A66"/>
                </a:solidFill>
                <a:latin typeface="Inter"/>
              </a:defRPr>
            </a:pPr>
            <a:r>
              <a:t>— DB_CONNECTION tidak diset → sistem jatuh ke SQLite dan gagal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7A88A0"/>
                </a:solidFill>
                <a:latin typeface="Inter"/>
              </a:defRPr>
            </a:pPr>
            <a:r>
              <a:t>Health check: GET /health → database.state = 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MANFAAT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Apa yang berubah bagi setiap pihak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290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91440" cy="1325880"/>
          </a:xfrm>
          <a:prstGeom prst="roundRect">
            <a:avLst>
              <a:gd name="adj" fmla="val 4000"/>
            </a:avLst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Sekolah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Satu sumber kebenaran; keputusan berbasis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290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91440" cy="1325880"/>
          </a:xfrm>
          <a:prstGeom prst="roundRect">
            <a:avLst>
              <a:gd name="adj" fmla="val 4000"/>
            </a:avLst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00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Administrasi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Antrean terukur dengan jejak keputusan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290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91440" cy="1325880"/>
          </a:xfrm>
          <a:prstGeom prst="roundRect">
            <a:avLst>
              <a:gd name="adj" fmla="val 4000"/>
            </a:avLst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00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Kesiswaan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Statistik tanpa menyusun ulang spreadsheet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26080"/>
            <a:ext cx="34290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926080"/>
            <a:ext cx="91440" cy="1325880"/>
          </a:xfrm>
          <a:prstGeom prst="roundRect">
            <a:avLst>
              <a:gd name="adj" fmla="val 4000"/>
            </a:avLst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546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Wali Kelas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661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Absensi dan kontak orang tua dalam satu layar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926080"/>
            <a:ext cx="34290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43400" y="2926080"/>
            <a:ext cx="91440" cy="1325880"/>
          </a:xfrm>
          <a:prstGeom prst="roundRect">
            <a:avLst>
              <a:gd name="adj" fmla="val 4000"/>
            </a:avLst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1546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Siswa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5661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Tahu langkah berikutnya tanpa bertanya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926080"/>
            <a:ext cx="34290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2926080"/>
            <a:ext cx="91440" cy="1325880"/>
          </a:xfrm>
          <a:prstGeom prst="roundRect">
            <a:avLst>
              <a:gd name="adj" fmla="val 4000"/>
            </a:avLst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1546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0B3375"/>
                </a:solidFill>
                <a:latin typeface="Inter"/>
              </a:defRPr>
            </a:pPr>
            <a:r>
              <a:t>Orang Tua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5661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Memantau anak secara langsung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STATUS IMPLEMENTASI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 apa yang selesai, apa yang belum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3A4A66"/>
                </a:solidFill>
                <a:latin typeface="Inter"/>
              </a:defRPr>
            </a:pPr>
            <a:r>
              <a:t>Fungsi yang belum selesai ditandai, bukan disembunyikan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290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29000" cy="502920"/>
          </a:xfrm>
          <a:prstGeom prst="roundRect">
            <a:avLst>
              <a:gd name="adj" fmla="val 4000"/>
            </a:avLst>
          </a:prstGeom>
          <a:solidFill>
            <a:srgbClr val="0F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FFFFF"/>
                </a:solidFill>
                <a:latin typeface="Inter"/>
              </a:defRPr>
            </a:pPr>
            <a:r>
              <a:t>IMPLEMENTED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984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FFFFFF"/>
                </a:solidFill>
                <a:latin typeface="Inter"/>
              </a:defRPr>
            </a:pPr>
            <a:r>
              <a:t>22 fitur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29718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100">
                <a:solidFill>
                  <a:srgbClr val="3A4A66"/>
                </a:solidFill>
                <a:latin typeface="Inter"/>
              </a:defRPr>
            </a:pPr>
            <a:r>
              <a:t>— Autentikasi &amp; RBAC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100">
                <a:solidFill>
                  <a:srgbClr val="3A4A66"/>
                </a:solidFill>
                <a:latin typeface="Inter"/>
              </a:defRPr>
            </a:pPr>
            <a:r>
              <a:t>— PPDB &amp; verifikasi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100">
                <a:solidFill>
                  <a:srgbClr val="3A4A66"/>
                </a:solidFill>
                <a:latin typeface="Inter"/>
              </a:defRPr>
            </a:pPr>
            <a:r>
              <a:t>— Kelas &amp; enrollment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100">
                <a:solidFill>
                  <a:srgbClr val="3A4A66"/>
                </a:solidFill>
                <a:latin typeface="Inter"/>
              </a:defRPr>
            </a:pPr>
            <a:r>
              <a:t>— Absensi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100">
                <a:solidFill>
                  <a:srgbClr val="3A4A66"/>
                </a:solidFill>
                <a:latin typeface="Inter"/>
              </a:defRPr>
            </a:pPr>
            <a:r>
              <a:t>— Portal orang tua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100">
                <a:solidFill>
                  <a:srgbClr val="3A4A66"/>
                </a:solidFill>
                <a:latin typeface="Inter"/>
              </a:defRPr>
            </a:pPr>
            <a:r>
              <a:t>— Laporan &amp; ekspor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100">
                <a:solidFill>
                  <a:srgbClr val="3A4A66"/>
                </a:solidFill>
                <a:latin typeface="Inter"/>
              </a:defRPr>
            </a:pPr>
            <a:r>
              <a:t>— PWA &amp; deployment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4290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429000" cy="50292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FFFFF"/>
                </a:solidFill>
                <a:latin typeface="Inter"/>
              </a:defRPr>
            </a:pPr>
            <a:r>
              <a:t>PARTIAL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84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FFFFFF"/>
                </a:solidFill>
                <a:latin typeface="Inter"/>
              </a:defRPr>
            </a:pPr>
            <a:r>
              <a:t>4 fitur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29718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100">
                <a:solidFill>
                  <a:srgbClr val="3A4A66"/>
                </a:solidFill>
                <a:latin typeface="Inter"/>
              </a:defRPr>
            </a:pPr>
            <a:r>
              <a:t>— Kenaikan kelas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100">
                <a:solidFill>
                  <a:srgbClr val="3A4A66"/>
                </a:solidFill>
                <a:latin typeface="Inter"/>
              </a:defRPr>
            </a:pPr>
            <a:r>
              <a:t>— Tinggal kelas &amp; pindah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100">
                <a:solidFill>
                  <a:srgbClr val="3A4A66"/>
                </a:solidFill>
                <a:latin typeface="Inter"/>
              </a:defRPr>
            </a:pPr>
            <a:r>
              <a:t>— Kelulusan &amp; alumni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100">
                <a:solidFill>
                  <a:srgbClr val="3A4A66"/>
                </a:solidFill>
                <a:latin typeface="Inter"/>
              </a:defRPr>
            </a:pPr>
            <a:r>
              <a:t>— Impor Excel &amp; laporan per kelas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4290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29000" cy="502920"/>
          </a:xfrm>
          <a:prstGeom prst="roundRect">
            <a:avLst>
              <a:gd name="adj" fmla="val 4000"/>
            </a:avLst>
          </a:prstGeom>
          <a:solidFill>
            <a:srgbClr val="7A8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659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FFFFFF"/>
                </a:solidFill>
                <a:latin typeface="Inter"/>
              </a:defRPr>
            </a:pPr>
            <a:r>
              <a:t>PLANNED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1984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FFFFFF"/>
                </a:solidFill>
                <a:latin typeface="Inter"/>
              </a:defRPr>
            </a:pPr>
            <a:r>
              <a:t>2 fitur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560320"/>
            <a:ext cx="29718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100">
                <a:solidFill>
                  <a:srgbClr val="3A4A66"/>
                </a:solidFill>
                <a:latin typeface="Inter"/>
              </a:defRPr>
            </a:pPr>
            <a:r>
              <a:t>— REST API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100">
                <a:solidFill>
                  <a:srgbClr val="3A4A66"/>
                </a:solidFill>
                <a:latin typeface="Inter"/>
              </a:defRPr>
            </a:pPr>
            <a:r>
              <a:t>— Installer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3A4A66"/>
                </a:solidFill>
                <a:latin typeface="Inter"/>
              </a:defRPr>
            </a:pPr>
            <a:r>
              <a:t>Verifikasi: 67 pengujian otomatis · 16 pemeriksaan HTTP · 25 pemeriksaan DOM · 11 pemeriksaan lingkungan produksi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1668DC"/>
                </a:solidFill>
                <a:latin typeface="Inter"/>
              </a:defRPr>
            </a:pPr>
            <a:r>
              <a:t>PENGUJIAN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0B3375"/>
                </a:solidFill>
                <a:latin typeface="Manrope"/>
              </a:defRPr>
            </a:pPr>
            <a:r>
              <a:t>Yang dijaga otomatis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50292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B3375"/>
                </a:solidFill>
                <a:latin typeface="Inter"/>
              </a:defRPr>
            </a:pPr>
            <a:r>
              <a:t>Alur PPDB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508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1668DC"/>
                </a:solidFill>
                <a:latin typeface="Inter"/>
              </a:defRPr>
            </a:pPr>
            <a:r>
              <a:t>AcceptanceJourneyTest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50876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Pendaftaran sampai diverifikasi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93392"/>
            <a:ext cx="10881360" cy="50292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B3375"/>
                </a:solidFill>
                <a:latin typeface="Inter"/>
              </a:defRPr>
            </a:pPr>
            <a:r>
              <a:t>Batas akses peran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1305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1668DC"/>
                </a:solidFill>
                <a:latin typeface="Inter"/>
              </a:defRPr>
            </a:pPr>
            <a:r>
              <a:t>RoleAccessTest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3055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Enam peran dan batas aksesnya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15184"/>
            <a:ext cx="10881360" cy="50292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5234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B3375"/>
                </a:solidFill>
                <a:latin typeface="Inter"/>
              </a:defRPr>
            </a:pPr>
            <a:r>
              <a:t>Isolasi data siswa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75234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1668DC"/>
                </a:solidFill>
                <a:latin typeface="Inter"/>
              </a:defRPr>
            </a:pPr>
            <a:r>
              <a:t>StudentProfileAuthorizationTest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752344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Siswa tidak dapat melihat milik orang lain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36976"/>
            <a:ext cx="10881360" cy="50292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7413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B3375"/>
                </a:solidFill>
                <a:latin typeface="Inter"/>
              </a:defRPr>
            </a:pPr>
            <a:r>
              <a:t>Cakupan kelas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37413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1668DC"/>
                </a:solidFill>
                <a:latin typeface="Inter"/>
              </a:defRPr>
            </a:pPr>
            <a:r>
              <a:t>ClassScopeAuthorizationTest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374136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Tes A, B, C, F, G, 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58768"/>
            <a:ext cx="10881360" cy="50292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959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B3375"/>
                </a:solidFill>
                <a:latin typeface="Inter"/>
              </a:defRPr>
            </a:pPr>
            <a:r>
              <a:t>Integritas enrollment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9959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1668DC"/>
                </a:solidFill>
                <a:latin typeface="Inter"/>
              </a:defRPr>
            </a:pPr>
            <a:r>
              <a:t>EnrollmentIntegrityTest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9959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Enrollment ganda, kelas terarsip, kenaikan ganda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80560"/>
            <a:ext cx="10881360" cy="50292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6177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B3375"/>
                </a:solidFill>
                <a:latin typeface="Inter"/>
              </a:defRPr>
            </a:pPr>
            <a:r>
              <a:t>Isolasi workspace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617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1668DC"/>
                </a:solidFill>
                <a:latin typeface="Inter"/>
              </a:defRPr>
            </a:pPr>
            <a:r>
              <a:t>WorkspaceAuthorizationTest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61772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7A88A0"/>
                </a:solidFill>
                <a:latin typeface="Inter"/>
              </a:defRPr>
            </a:pPr>
            <a:r>
              <a:t>Workspace dan portal orang tua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486400"/>
            <a:ext cx="10881360" cy="822960"/>
          </a:xfrm>
          <a:prstGeom prst="roundRect">
            <a:avLst>
              <a:gd name="adj" fmla="val 4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1668DC"/>
                </a:solidFill>
                <a:latin typeface="Inter"/>
              </a:defRPr>
            </a:pPr>
            <a:r>
              <a:t>67 pengujian · 237 pernyataan   |   Seluruhnya berjalan pada tiap push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Sistem Informasi Data Siswa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7A88A0"/>
                </a:solidFill>
                <a:latin typeface="Inter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3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4000"/>
            </a:avLst>
          </a:prstGeom>
          <a:solidFill>
            <a:srgbClr val="166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35C6F3"/>
                </a:solidFill>
                <a:latin typeface="Inter"/>
              </a:defRPr>
            </a:pPr>
            <a: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200" b="1">
                <a:solidFill>
                  <a:srgbClr val="FFFFFF"/>
                </a:solidFill>
                <a:latin typeface="Manrope"/>
              </a:defRPr>
            </a:pPr>
            <a:r>
              <a:t>Empat hal yang berhasil diselesaikan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668DC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56032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FFFFFF"/>
                </a:solidFill>
                <a:latin typeface="Inter"/>
              </a:defRPr>
            </a:pPr>
            <a:r>
              <a:t>Satu identitas siswa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889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B8C6E0"/>
                </a:solidFill>
                <a:latin typeface="Inter"/>
              </a:defRPr>
            </a:pPr>
            <a:r>
              <a:t>Banyak konteks akademik per tahun ajaran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668DC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38328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FFFFFF"/>
                </a:solidFill>
                <a:latin typeface="Inter"/>
              </a:defRPr>
            </a:pPr>
            <a:r>
              <a:t>Riwayat tidak pernah hilang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1246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B8C6E0"/>
                </a:solidFill>
                <a:latin typeface="Inter"/>
              </a:defRPr>
            </a:pPr>
            <a:r>
              <a:t>Naik kelas menambah, bukan menimpa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668DC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20624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FFFFFF"/>
                </a:solidFill>
                <a:latin typeface="Inter"/>
              </a:defRPr>
            </a:pPr>
            <a:r>
              <a:t>Akses berbasis sumber daya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53542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B8C6E0"/>
                </a:solidFill>
                <a:latin typeface="Inter"/>
              </a:defRPr>
            </a:pPr>
            <a:r>
              <a:t>Izin, cakupan, dan penugasan sekaligus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668DC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02920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FFFFFF"/>
                </a:solidFill>
                <a:latin typeface="Inter"/>
              </a:defRPr>
            </a:pPr>
            <a:r>
              <a:t>Administrasi terpadu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35838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B8C6E0"/>
                </a:solidFill>
                <a:latin typeface="Inter"/>
              </a:defRPr>
            </a:pPr>
            <a:r>
              <a:t>PPDB hingga laporan dalam satu sistem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9436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8EA3C4"/>
                </a:solidFill>
                <a:latin typeface="Inter"/>
              </a:defRPr>
            </a:pPr>
            <a:r>
              <a:t>github.com/pujosety/Sistem-Informasi-Data-Siswa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